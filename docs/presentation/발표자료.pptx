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56" r:id="rId2"/>
    <p:sldId id="257" r:id="rId3"/>
    <p:sldId id="258" r:id="rId4"/>
    <p:sldId id="259" r:id="rId5"/>
    <p:sldId id="261" r:id="rId6"/>
    <p:sldId id="260" r:id="rId7"/>
    <p:sldId id="262" r:id="rId8"/>
    <p:sldId id="263" r:id="rId9"/>
    <p:sldId id="264" r:id="rId10"/>
    <p:sldId id="265" r:id="rId11"/>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도입" id="{2315B13E-FE30-258A-B9FE-FC666BD3CA77}">
          <p14:sldIdLst>
            <p14:sldId id="256"/>
            <p14:sldId id="257"/>
          </p14:sldIdLst>
        </p14:section>
        <p14:section name="사용자 행동" id="{E95DD373-4890-3E7C-04B1-FA2B9734391B}">
          <p14:sldIdLst>
            <p14:sldId id="258"/>
            <p14:sldId id="259"/>
          </p14:sldIdLst>
        </p14:section>
        <p14:section name="온톨로지" id="{0066DF76-BC71-5DDA-E14F-731F3B8C3518}">
          <p14:sldIdLst>
            <p14:sldId id="261"/>
            <p14:sldId id="260"/>
            <p14:sldId id="262"/>
            <p14:sldId id="263"/>
          </p14:sldIdLst>
        </p14:section>
        <p14:section name="스펙" id="{02D04070-3674-EAA7-F63E-88AC33A108D0}">
          <p14:sldIdLst>
            <p14:sldId id="264"/>
            <p14:sldId id="265"/>
          </p14:sldIdLst>
        </p14:section>
        <p14:section name="마무리" id="{9650BE75-4210-D21B-C79E-7A9525F03EA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60" d="100"/>
          <a:sy n="60" d="100"/>
        </p:scale>
        <p:origin x="78" y="118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25140535"/>
      </p:ext>
    </p:extLst>
  </p:cSld>
  <p:clrMap bg1="lt1" tx1="dk1" bg2="lt2" tx2="dk2" accent1="accent1" accent2="accent2" accent3="accent3" accent4="accent4" accent5="accent5" accent6="accent6" hlink="hlink" folHlink="folHlink"/>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안녕하세요. 개미구조대 박종인, 허준영입니다.</a:t>
            </a:r>
          </a:p>
          <a:p>
            <a:endParaRPr/>
          </a:p>
          <a:p>
            <a:r>
              <a:t>개미구조대는 AI가 생성한 미래 수익률 경로와 증권사 리포트를 결합해 포트폴리오를 제안하고, 종목과 비중의 결정 근거를 검증해 보여주는 투자 의사결정 지원 서비스입니다.</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저희는 9월 16일부터 30일까지 10명에게 투자 조언을 받은 뒤 실제로 어떻게 행동했는지 물었습니다.</a:t>
            </a:r>
          </a:p>
          <a:p>
            <a:endParaRPr/>
          </a:p>
          <a:p>
            <a:r>
              <a:t>R3는 지인의 자산배분 조언에 동의하지 못해 일부만 실행했고, 이후 뉴스와 시황을 확인하는 데 며칠을 썼습니다. R9는 의심스러운 정보를 다른 출처와 교차확인했지만, 그렇게 해도 항상 결론을 내리지는 못했다고 답했습니다.</a:t>
            </a:r>
          </a:p>
          <a:p>
            <a:endParaRPr/>
          </a:p>
          <a:p>
            <a:r>
              <a:t>반면 R7은 공시를 확인하고 5분 만에 판단했습니다. R6는 근거가 부족해서가 아니라 귀찮아서 조언을 실행하지 않았습니다.</a:t>
            </a:r>
          </a:p>
          <a:p>
            <a:endParaRPr/>
          </a:p>
          <a:p>
            <a:r>
              <a:t>따라서 모든 투자자가 같은 문제를 겪는 것은 아닙니다. 저희는 추가 정보를 찾아도 근거를 비교하고 투자 판단을 마무리하기 어려운 사용자를 주요 대상으로 정했습니다.</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처음에는 종합 자산관리, 투자 의견 정교화, 금융정책 탐색을 조사했습니다. 금융정책 탐색은 관련 경험이 확인되지 않았고, 종합 자산관리에서 나타난 어려움도 주로 받은 투자 제안을 검토하는 단계에 있었습니다. 그래서 투자 의견 정교화에 집중하기로 했습니다.</a:t>
            </a:r>
          </a:p>
          <a:p>
            <a:endParaRPr/>
          </a:p>
          <a:p>
            <a:r>
              <a:t>저희가 정의한 문제는 투자정보가 부족하다는 것이 아니라, 여러 근거를 비교해 포트폴리오 결정으로 연결하기 어렵고, 그 결정 이유를 확인하기도 어렵다는 것입니다.</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온톨로지에서는 투자자, 조언 채널, 자산배분 제안, 실행 행동, 교차확인 행동을 구분했습니다.</a:t>
            </a:r>
          </a:p>
          <a:p>
            <a:endParaRPr/>
          </a:p>
          <a:p>
            <a:r>
              <a:t>예를 들어 R3는 지인에게 제안을 받았고, 이를 일부 실행했으며, 뉴스와 시황으로 교차확인했습니다. 여기서 '일부'는 실행 행동의 속성이고, '며칠'은 교차확인 행동에 걸린 시간입니다. 이 관계는 실제 설문 응답에서 확인한 내용입니다.</a:t>
            </a:r>
          </a:p>
          <a:p>
            <a:endParaRPr/>
          </a:p>
          <a:p>
            <a:r>
              <a:t>서비스에서는 이 관계를 리포트와 모델 전망, 최적화 결과, 설명 주장까지 확장합니다. 리포트에는 출처와 공개시각을, 포트폴리오에는 종목별 비중과 기준시점을 기록하고, 설명의 각 주장에는 관련 원문이나 계산 결과를 연결합니다. 앞의 사용자 행동은 설문 근거이고, 뒤의 검증 관계는 저희 설계라는 점도 구분합니다.</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조건부 확산모델인 STABLE은 향후 10거래일의 수익률 경로를 여러 개 생성합니다. 여기서 기대수익률과 종목 간 위험, 큰 손실이 발생하는 시나리오를 추정합니다.</a:t>
            </a:r>
          </a:p>
          <a:p>
            <a:endParaRPr/>
          </a:p>
          <a:p>
            <a:r>
              <a:t>수집 에이전트는 증권사 리포트에서 목표주가와 실적 추정치의 변화, 전망의 근거를 추출합니다. 목표주가는 보통 10거래일 전망이 아니므로 그대로 대입하지 않고, 수정 방향과 불확실성을 단기 신호로 바꿔 모델 기대수익률을 보정하겠습니다.</a:t>
            </a:r>
          </a:p>
          <a:p>
            <a:endParaRPr/>
          </a:p>
          <a:p>
            <a:r>
              <a:t>최적화 코드는 결합된 기대수익을 높이면서 변동성, 극단적 손실, 거래비용, 기존 포트폴리오에서의 과도한 변경을 줄이도록 설계합니다. 롱온리와 종목·섹터별 비중 상한을 지키고, 현금 보유도 허용합니다. 10개 오프셋을 운영할 때는 기존 보유분까지 고려해 신규 포트폴리오를 계산합니다.</a:t>
            </a:r>
          </a:p>
          <a:p>
            <a:endParaRPr/>
          </a:p>
          <a:p>
            <a:r>
              <a:t>투자 비중은 LLM이 아니라 최적화 코드가 결정합니다. 변경 전후 비중과 실제 작동한 제약을 기록합니다.</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첫 번째 가설은 확산모델의 미래 경로에 증권사 전망을 결합하고 위험 제약을 적용하면, 기존 방식보다 위험 대비 성과와 안정성을 개선할 수 있다는 것입니다.</a:t>
            </a:r>
          </a:p>
          <a:p>
            <a:endParaRPr/>
          </a:p>
          <a:p>
            <a:r>
              <a:t>두 번째 가설은 이 계산 기록과 리포트 출처를 연결하면 사용자가 종목 선정과 비중 결정의 근거를 확인할 수 있다는 것입니다.</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시스템은 수집 에이전트, 확산모델·최적화 코드, 설명 에이전트, 검증 에이전트 순서로 실행됩니다. 각 단계의 완료 조건도 정했습니다.</a:t>
            </a:r>
          </a:p>
          <a:p>
            <a:endParaRPr/>
          </a:p>
          <a:p>
            <a:r>
              <a:t>첫째, 수집 에이전트입니다. 투자 기준시점이 없으면 실행을 거부합니다. 경계시점 테스트 50건에서 미래 리포트가 과거 신호에 섞이는 경우는 0건이어야 합니다. 사용한 리포트의 출처는 100% 연결하고, 목표주가와 실적 수치는 원문 대조 100건 중 99건 이상 일치해야 합니다. 근거가 없거나 확인되지 않은 값은 사용하지 않습니다.</a:t>
            </a:r>
          </a:p>
          <a:p>
            <a:endParaRPr/>
          </a:p>
          <a:p>
            <a:r>
              <a:t>둘째, 모델 추론과 최적화 코드입니다. 같은 입력, 모델 버전, 시드와 설정에서 결과가 재현되어야 합니다. 현금을 포함한 비중 합계는 1이어야 하고, 음수 비중과 종목·섹터 상한 위반은 0건이어야 합니다. 조건을 만족하는 결과가 없으면 제약을 임의로 풀지 않고 실패로 처리합니다.</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셋째, 설명 에이전트입니다. 종목 선정 이유, 리포트 근거, 비중 결정 이유, 위험 제약과 불확실성을 정해진 형식으로 작성합니다. 해당하는 필수 항목을 100% 채우고, 외부 사실은 원문에, 비중과 위험 수치는 계산 기록에 연결해야 합니다. 예를 들어 섹터 상한이 비중을 낮췄다고 주장하려면, 그 제약을 바꿔 재계산한 근거가 있어야 합니다.</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넷째, 검증 에이전트입니다. 설명을 주장 단위로 나누어 출처와 계산 기록을 대조합니다. 초기 성능 시험에서는 출처 없는 주장 30건 중 27건 이상, 내용이 왜곡된 주장 30건 중 24건 이상을 검출하고, 정상 주장 30건 중 27건 이상을 통과시키는 것이 목표입니다.</a:t>
            </a:r>
          </a:p>
          <a:p>
            <a:endParaRPr/>
          </a:p>
          <a:p>
            <a:r>
              <a:t>이 시험 점수와 실제 공개 기준은 다릅니다. 개별 실행에서는 모든 주장을 검증하고, 반려·미검증 주장과 핵심 수치 오류가 최종 설명에 남는 경우는 0건이어야 합니다. 해결하지 못하면 공개하지 않습니다. 비중과 날짜처럼 규칙으로 검사할 수 있는 값은 코드로 전수 확인합니다.</a:t>
            </a:r>
          </a:p>
          <a:p>
            <a:endParaRPr/>
          </a:p>
          <a:p>
            <a:r>
              <a:t>이 수치는 이미 달성한 결과가 아니라, 구현 후 평가할 초기 수용 기준입니다.</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투자 성과는 동일가중, STABLE 단독, STABLE에 위험관리만 적용한 방식, 리포트만 결합한 방식, 전체 결합 방식을 같은 조건에서 비교하겠습니다. 10개 오프셋의 통합 성과에 왕복 거래비용 30bps와 60bps를 반영하고, Sharpe, 최대낙폭, 변동성과 섹터 집중도를 평가하겠습니다.</a:t>
            </a:r>
          </a:p>
          <a:p>
            <a:endParaRPr/>
          </a:p>
          <a:p>
            <a:r>
              <a:t>이번 구현에서 실제 매매 자동 실행과 수익 보장은 다루지 않습니다. 검증하려는 것은 더 나은 포트폴리오를 만들 수 있는지, 그리고 그 제안의 근거를 정확하게 설명할 수 있는지입니다.</a:t>
            </a:r>
          </a:p>
          <a:p>
            <a:endParaRPr/>
          </a:p>
          <a:p>
            <a:r>
              <a:t>감사합니다.</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chemeClr val="tx2"/>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2011680"/>
            <a:ext cx="10698480" cy="1463040"/>
          </a:xfrm>
          <a:prstGeom prst="rect">
            <a:avLst/>
          </a:prstGeom>
          <a:noFill/>
          <a:ln/>
        </p:spPr>
        <p:txBody>
          <a:bodyPr wrap="square" rtlCol="0"/>
          <a:lstStyle>
            <a:lvl1pPr marL="0" indent="0" algn="l">
              <a:buNone/>
              <a:defRPr lang="en-US" sz="4400" b="1" dirty="0">
                <a:solidFill>
                  <a:schemeClr val="bg1"/>
                </a:solidFill>
              </a:defRPr>
            </a:lvl1pPr>
          </a:lstStyle>
          <a:p>
            <a:pPr marL="0" indent="0" algn="l">
              <a:buNone/>
            </a:pPr>
            <a:endParaRPr lang="en-US" sz="4400" dirty="0"/>
          </a:p>
        </p:txBody>
      </p:sp>
      <p:sp>
        <p:nvSpPr>
          <p:cNvPr id="3" name="Text 0"/>
          <p:cNvSpPr>
            <a:spLocks noGrp="1"/>
          </p:cNvSpPr>
          <p:nvPr>
            <p:ph type="body" idx="101" hasCustomPrompt="1"/>
          </p:nvPr>
        </p:nvSpPr>
        <p:spPr>
          <a:xfrm>
            <a:off x="731520" y="3657600"/>
            <a:ext cx="10698480" cy="822960"/>
          </a:xfrm>
          <a:prstGeom prst="rect">
            <a:avLst/>
          </a:prstGeom>
          <a:noFill/>
          <a:ln/>
        </p:spPr>
        <p:txBody>
          <a:bodyPr wrap="square" rtlCol="0"/>
          <a:lstStyle>
            <a:lvl1pPr marL="0" indent="0" algn="l">
              <a:buNone/>
              <a:defRPr lang="en-US" sz="2000" dirty="0">
                <a:solidFill>
                  <a:schemeClr val="accent5"/>
                </a:solidFill>
              </a:defRPr>
            </a:lvl1pPr>
          </a:lstStyle>
          <a:p>
            <a:pPr marL="0" indent="0" algn="l">
              <a:buNone/>
            </a:pP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_DARK">
    <p:bg>
      <p:bgPr>
        <a:solidFill>
          <a:schemeClr val="tx2"/>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2743200"/>
            <a:ext cx="10698480" cy="1097280"/>
          </a:xfrm>
          <a:prstGeom prst="rect">
            <a:avLst/>
          </a:prstGeom>
          <a:noFill/>
          <a:ln/>
        </p:spPr>
        <p:txBody>
          <a:bodyPr wrap="square" rtlCol="0"/>
          <a:lstStyle>
            <a:lvl1pPr marL="0" indent="0" algn="l">
              <a:buNone/>
              <a:defRPr lang="en-US" sz="4000" b="1" dirty="0">
                <a:solidFill>
                  <a:schemeClr val="bg1"/>
                </a:solidFill>
              </a:defRPr>
            </a:lvl1pPr>
          </a:lstStyle>
          <a:p>
            <a:pPr marL="0" indent="0" algn="l">
              <a:buNone/>
            </a:pPr>
            <a:endParaRPr lang="en-US" sz="4000" dirty="0"/>
          </a:p>
        </p:txBody>
      </p:sp>
      <p:sp>
        <p:nvSpPr>
          <p:cNvPr id="3" name="Text 0"/>
          <p:cNvSpPr>
            <a:spLocks noGrp="1"/>
          </p:cNvSpPr>
          <p:nvPr>
            <p:ph type="body" idx="101" hasCustomPrompt="1"/>
          </p:nvPr>
        </p:nvSpPr>
        <p:spPr>
          <a:xfrm>
            <a:off x="731520" y="3931920"/>
            <a:ext cx="10698480" cy="640080"/>
          </a:xfrm>
          <a:prstGeom prst="rect">
            <a:avLst/>
          </a:prstGeom>
          <a:noFill/>
          <a:ln/>
        </p:spPr>
        <p:txBody>
          <a:bodyPr wrap="square" rtlCol="0"/>
          <a:lstStyle>
            <a:lvl1pPr marL="0" indent="0" algn="l">
              <a:buNone/>
              <a:defRPr lang="en-US" sz="2000" dirty="0">
                <a:solidFill>
                  <a:schemeClr val="accent5"/>
                </a:solidFill>
              </a:defRPr>
            </a:lvl1pPr>
          </a:lstStyle>
          <a:p>
            <a:pPr marL="0" indent="0" algn="l">
              <a:buNone/>
            </a:pPr>
            <a:endParaRPr lang="en-US" sz="20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64240" cy="777240"/>
          </a:xfrm>
          <a:prstGeom prst="rect">
            <a:avLst/>
          </a:prstGeom>
          <a:noFill/>
          <a:ln/>
        </p:spPr>
        <p:txBody>
          <a:bodyPr wrap="square" rtlCol="0"/>
          <a:lstStyle>
            <a:lvl1pPr marL="0" indent="0" algn="l">
              <a:buNone/>
              <a:defRPr lang="en-US" sz="3200" b="1" dirty="0">
                <a:solidFill>
                  <a:schemeClr val="tx2"/>
                </a:solidFill>
              </a:defRPr>
            </a:lvl1pPr>
          </a:lstStyle>
          <a:p>
            <a:pPr marL="0" indent="0" algn="l">
              <a:buNone/>
            </a:pPr>
            <a:endParaRPr lang="en-US" sz="3200" dirty="0"/>
          </a:p>
        </p:txBody>
      </p:sp>
      <p:sp>
        <p:nvSpPr>
          <p:cNvPr id="3" name="Text 0"/>
          <p:cNvSpPr/>
          <p:nvPr/>
        </p:nvSpPr>
        <p:spPr>
          <a:xfrm>
            <a:off x="548640" y="6400800"/>
            <a:ext cx="7315200" cy="274320"/>
          </a:xfrm>
          <a:prstGeom prst="rect">
            <a:avLst/>
          </a:prstGeom>
          <a:noFill/>
          <a:ln/>
        </p:spPr>
        <p:txBody>
          <a:bodyPr wrap="square" lIns="0" tIns="0" rIns="0" bIns="0" rtlCol="0" anchor="ctr"/>
          <a:lstStyle/>
          <a:p>
            <a:pPr marL="0" indent="0">
              <a:buNone/>
            </a:pPr>
            <a:r>
              <a:rPr lang="en-US" sz="1000" dirty="0">
                <a:solidFill>
                  <a:schemeClr val="accent4"/>
                </a:solidFill>
              </a:rPr>
              <a:t>개미구조대 · AI 캡스톤 디자인 · 중간발표 1</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4"/>
                </a:solidFill>
              </a:defRPr>
            </a:lvl1pPr>
          </a:lstStyle>
          <a:p>
            <a:pPr algn="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4"/>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713232" y="1280160"/>
            <a:ext cx="10744200" cy="758952"/>
          </a:xfrm>
          <a:prstGeom prst="rect">
            <a:avLst/>
          </a:prstGeom>
          <a:noFill/>
        </p:spPr>
        <p:txBody>
          <a:bodyPr wrap="square" lIns="27432" tIns="0" rIns="27432" bIns="0" anchor="ctr">
            <a:spAutoFit/>
          </a:bodyPr>
          <a:lstStyle/>
          <a:p>
            <a:pPr algn="l">
              <a:lnSpc>
                <a:spcPct val="113000"/>
              </a:lnSpc>
              <a:spcAft>
                <a:spcPts val="0"/>
              </a:spcAft>
            </a:pPr>
            <a:r>
              <a:rPr sz="3900" b="1">
                <a:solidFill>
                  <a:srgbClr val="FFFFFF"/>
                </a:solidFill>
                <a:latin typeface="NanumSquare"/>
              </a:rPr>
              <a:t>개미구조대</a:t>
            </a:r>
          </a:p>
        </p:txBody>
      </p:sp>
      <p:sp>
        <p:nvSpPr>
          <p:cNvPr id="5" name="TextBox 4"/>
          <p:cNvSpPr txBox="1"/>
          <p:nvPr/>
        </p:nvSpPr>
        <p:spPr>
          <a:xfrm>
            <a:off x="713232" y="2286000"/>
            <a:ext cx="10744200" cy="768096"/>
          </a:xfrm>
          <a:prstGeom prst="rect">
            <a:avLst/>
          </a:prstGeom>
          <a:noFill/>
        </p:spPr>
        <p:txBody>
          <a:bodyPr wrap="square" lIns="27432" tIns="0" rIns="27432" bIns="0" anchor="ctr">
            <a:spAutoFit/>
          </a:bodyPr>
          <a:lstStyle/>
          <a:p>
            <a:pPr algn="l">
              <a:lnSpc>
                <a:spcPct val="113000"/>
              </a:lnSpc>
              <a:spcAft>
                <a:spcPts val="0"/>
              </a:spcAft>
            </a:pPr>
            <a:r>
              <a:rPr sz="3400" b="1">
                <a:solidFill>
                  <a:srgbClr val="FFFFFF"/>
                </a:solidFill>
                <a:latin typeface="NanumSquare"/>
              </a:rPr>
              <a:t>Diffusion + 리포트 기반 포트폴리오</a:t>
            </a:r>
          </a:p>
        </p:txBody>
      </p:sp>
      <p:sp>
        <p:nvSpPr>
          <p:cNvPr id="6" name="TextBox 5"/>
          <p:cNvSpPr txBox="1"/>
          <p:nvPr/>
        </p:nvSpPr>
        <p:spPr>
          <a:xfrm>
            <a:off x="731520" y="3246120"/>
            <a:ext cx="10698480" cy="429768"/>
          </a:xfrm>
          <a:prstGeom prst="rect">
            <a:avLst/>
          </a:prstGeom>
          <a:noFill/>
        </p:spPr>
        <p:txBody>
          <a:bodyPr wrap="square" lIns="27432" tIns="0" rIns="27432" bIns="0" anchor="ctr">
            <a:spAutoFit/>
          </a:bodyPr>
          <a:lstStyle/>
          <a:p>
            <a:pPr algn="l">
              <a:lnSpc>
                <a:spcPct val="113000"/>
              </a:lnSpc>
              <a:spcAft>
                <a:spcPts val="0"/>
              </a:spcAft>
            </a:pPr>
            <a:r>
              <a:rPr sz="1700" b="0">
                <a:solidFill>
                  <a:srgbClr val="D5E3D9"/>
                </a:solidFill>
                <a:latin typeface="NanumSquare"/>
              </a:rPr>
              <a:t>미래 수익률 경로 · 증권사 전망 · 위험 제약 · 근거 검증</a:t>
            </a:r>
          </a:p>
        </p:txBody>
      </p:sp>
      <p:cxnSp>
        <p:nvCxnSpPr>
          <p:cNvPr id="7" name="Connector 6"/>
          <p:cNvCxnSpPr/>
          <p:nvPr/>
        </p:nvCxnSpPr>
        <p:spPr>
          <a:xfrm>
            <a:off x="740664" y="4096512"/>
            <a:ext cx="10552176" cy="0"/>
          </a:xfrm>
          <a:prstGeom prst="line">
            <a:avLst/>
          </a:prstGeom>
          <a:ln w="19050">
            <a:solidFill>
              <a:srgbClr val="607C69"/>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731520" y="5870448"/>
            <a:ext cx="10424160" cy="365760"/>
          </a:xfrm>
          <a:prstGeom prst="rect">
            <a:avLst/>
          </a:prstGeom>
          <a:noFill/>
        </p:spPr>
        <p:txBody>
          <a:bodyPr wrap="square" lIns="27432" tIns="0" rIns="27432" bIns="0" anchor="ctr">
            <a:spAutoFit/>
          </a:bodyPr>
          <a:lstStyle/>
          <a:p>
            <a:pPr algn="l">
              <a:lnSpc>
                <a:spcPct val="113000"/>
              </a:lnSpc>
              <a:spcAft>
                <a:spcPts val="0"/>
              </a:spcAft>
            </a:pPr>
            <a:r>
              <a:rPr sz="1400" b="0">
                <a:solidFill>
                  <a:srgbClr val="D4E0D6"/>
                </a:solidFill>
                <a:latin typeface="NanumSquare"/>
              </a:rPr>
              <a:t>박종인 · 허준영  |  AI 캡스톤 디자인  |  2026.10</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57784" y="320040"/>
            <a:ext cx="10561320" cy="676656"/>
          </a:xfrm>
          <a:prstGeom prst="rect">
            <a:avLst/>
          </a:prstGeom>
          <a:noFill/>
        </p:spPr>
        <p:txBody>
          <a:bodyPr wrap="square" lIns="27432" tIns="0" rIns="27432" bIns="0" anchor="ctr">
            <a:spAutoFit/>
          </a:bodyPr>
          <a:lstStyle/>
          <a:p>
            <a:pPr algn="l">
              <a:lnSpc>
                <a:spcPct val="113000"/>
              </a:lnSpc>
              <a:spcAft>
                <a:spcPts val="0"/>
              </a:spcAft>
            </a:pPr>
            <a:r>
              <a:rPr sz="3000" b="1">
                <a:solidFill>
                  <a:srgbClr val="203B2C"/>
                </a:solidFill>
                <a:latin typeface="NanumSquare"/>
              </a:rPr>
              <a:t>설문에서 확인한 행동과 주요 대상</a:t>
            </a:r>
          </a:p>
        </p:txBody>
      </p:sp>
      <p:sp>
        <p:nvSpPr>
          <p:cNvPr id="3" name="TextBox 2"/>
          <p:cNvSpPr txBox="1"/>
          <p:nvPr/>
        </p:nvSpPr>
        <p:spPr>
          <a:xfrm>
            <a:off x="594360" y="987552"/>
            <a:ext cx="10561320" cy="384048"/>
          </a:xfrm>
          <a:prstGeom prst="rect">
            <a:avLst/>
          </a:prstGeom>
          <a:noFill/>
        </p:spPr>
        <p:txBody>
          <a:bodyPr wrap="square" lIns="27432" tIns="0" rIns="27432" bIns="0" anchor="ctr">
            <a:spAutoFit/>
          </a:bodyPr>
          <a:lstStyle/>
          <a:p>
            <a:pPr algn="l">
              <a:lnSpc>
                <a:spcPct val="113000"/>
              </a:lnSpc>
              <a:spcAft>
                <a:spcPts val="0"/>
              </a:spcAft>
            </a:pPr>
            <a:r>
              <a:rPr sz="1300" b="0" dirty="0">
                <a:solidFill>
                  <a:srgbClr val="64766A"/>
                </a:solidFill>
                <a:latin typeface="NanumSquare"/>
              </a:rPr>
              <a:t>n=10  ·  2026.09.16–09.30  ·  </a:t>
            </a:r>
            <a:r>
              <a:rPr sz="1300" b="0" dirty="0" err="1">
                <a:solidFill>
                  <a:srgbClr val="64766A"/>
                </a:solidFill>
                <a:latin typeface="NanumSquare"/>
              </a:rPr>
              <a:t>실제</a:t>
            </a:r>
            <a:r>
              <a:rPr sz="1300" b="0" dirty="0">
                <a:solidFill>
                  <a:srgbClr val="64766A"/>
                </a:solidFill>
                <a:latin typeface="NanumSquare"/>
              </a:rPr>
              <a:t> </a:t>
            </a:r>
            <a:r>
              <a:rPr sz="1300" b="0" dirty="0" err="1">
                <a:solidFill>
                  <a:srgbClr val="64766A"/>
                </a:solidFill>
                <a:latin typeface="NanumSquare"/>
              </a:rPr>
              <a:t>투자</a:t>
            </a:r>
            <a:r>
              <a:rPr sz="1300" b="0" dirty="0">
                <a:solidFill>
                  <a:srgbClr val="64766A"/>
                </a:solidFill>
                <a:latin typeface="NanumSquare"/>
              </a:rPr>
              <a:t> </a:t>
            </a:r>
            <a:r>
              <a:rPr sz="1300" b="0" dirty="0" err="1">
                <a:solidFill>
                  <a:srgbClr val="64766A"/>
                </a:solidFill>
                <a:latin typeface="NanumSquare"/>
              </a:rPr>
              <a:t>조언</a:t>
            </a:r>
            <a:r>
              <a:rPr sz="1300" b="0" dirty="0">
                <a:solidFill>
                  <a:srgbClr val="64766A"/>
                </a:solidFill>
                <a:latin typeface="NanumSquare"/>
              </a:rPr>
              <a:t> </a:t>
            </a:r>
            <a:r>
              <a:rPr sz="1300" b="0" dirty="0" err="1">
                <a:solidFill>
                  <a:srgbClr val="64766A"/>
                </a:solidFill>
                <a:latin typeface="NanumSquare"/>
              </a:rPr>
              <a:t>이후의</a:t>
            </a:r>
            <a:r>
              <a:rPr sz="1300" b="0" dirty="0">
                <a:solidFill>
                  <a:srgbClr val="64766A"/>
                </a:solidFill>
                <a:latin typeface="NanumSquare"/>
              </a:rPr>
              <a:t> </a:t>
            </a:r>
            <a:r>
              <a:rPr sz="1300" b="0" dirty="0" err="1">
                <a:solidFill>
                  <a:srgbClr val="64766A"/>
                </a:solidFill>
                <a:latin typeface="NanumSquare"/>
              </a:rPr>
              <a:t>행동</a:t>
            </a:r>
            <a:endParaRPr sz="1300" b="0" dirty="0">
              <a:solidFill>
                <a:srgbClr val="64766A"/>
              </a:solidFill>
              <a:latin typeface="NanumSquare"/>
            </a:endParaRPr>
          </a:p>
        </p:txBody>
      </p:sp>
      <p:cxnSp>
        <p:nvCxnSpPr>
          <p:cNvPr id="4" name="Connector 3"/>
          <p:cNvCxnSpPr/>
          <p:nvPr/>
        </p:nvCxnSpPr>
        <p:spPr>
          <a:xfrm>
            <a:off x="594360" y="1426464"/>
            <a:ext cx="11000232" cy="0"/>
          </a:xfrm>
          <a:prstGeom prst="line">
            <a:avLst/>
          </a:prstGeom>
          <a:ln w="12700">
            <a:solidFill>
              <a:srgbClr val="DCE6DD"/>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85216" y="6373368"/>
            <a:ext cx="5486400" cy="192024"/>
          </a:xfrm>
          <a:prstGeom prst="rect">
            <a:avLst/>
          </a:prstGeom>
          <a:noFill/>
        </p:spPr>
        <p:txBody>
          <a:bodyPr wrap="square" lIns="27432" tIns="0" rIns="27432" bIns="0" anchor="ctr">
            <a:spAutoFit/>
          </a:bodyPr>
          <a:lstStyle/>
          <a:p>
            <a:pPr algn="l">
              <a:lnSpc>
                <a:spcPct val="113000"/>
              </a:lnSpc>
              <a:spcAft>
                <a:spcPts val="0"/>
              </a:spcAft>
            </a:pPr>
            <a:r>
              <a:rPr sz="1000" b="0">
                <a:solidFill>
                  <a:srgbClr val="64766A"/>
                </a:solidFill>
                <a:latin typeface="NanumSquare"/>
              </a:rPr>
              <a:t>개미구조대  ·  AI 캡스톤 디자인</a:t>
            </a:r>
          </a:p>
        </p:txBody>
      </p:sp>
      <p:sp>
        <p:nvSpPr>
          <p:cNvPr id="6" name="TextBox 5"/>
          <p:cNvSpPr txBox="1"/>
          <p:nvPr/>
        </p:nvSpPr>
        <p:spPr>
          <a:xfrm>
            <a:off x="11109960" y="6364224"/>
            <a:ext cx="457200" cy="219456"/>
          </a:xfrm>
          <a:prstGeom prst="rect">
            <a:avLst/>
          </a:prstGeom>
          <a:noFill/>
        </p:spPr>
        <p:txBody>
          <a:bodyPr wrap="square" lIns="27432" tIns="0" rIns="27432" bIns="0" anchor="ctr">
            <a:spAutoFit/>
          </a:bodyPr>
          <a:lstStyle/>
          <a:p>
            <a:pPr algn="r">
              <a:lnSpc>
                <a:spcPct val="113000"/>
              </a:lnSpc>
              <a:spcAft>
                <a:spcPts val="0"/>
              </a:spcAft>
            </a:pPr>
            <a:r>
              <a:rPr sz="1100" b="0">
                <a:solidFill>
                  <a:srgbClr val="64766A"/>
                </a:solidFill>
                <a:latin typeface="NanumSquare"/>
              </a:rPr>
              <a:t>2</a:t>
            </a:r>
          </a:p>
        </p:txBody>
      </p:sp>
      <p:sp>
        <p:nvSpPr>
          <p:cNvPr id="7" name="TextBox 6"/>
          <p:cNvSpPr txBox="1"/>
          <p:nvPr/>
        </p:nvSpPr>
        <p:spPr>
          <a:xfrm>
            <a:off x="603504" y="1591056"/>
            <a:ext cx="5440680" cy="310896"/>
          </a:xfrm>
          <a:prstGeom prst="rect">
            <a:avLst/>
          </a:prstGeom>
          <a:noFill/>
        </p:spPr>
        <p:txBody>
          <a:bodyPr wrap="square" lIns="27432" tIns="0" rIns="27432" bIns="0" anchor="ctr">
            <a:spAutoFit/>
          </a:bodyPr>
          <a:lstStyle/>
          <a:p>
            <a:pPr algn="l">
              <a:lnSpc>
                <a:spcPct val="113000"/>
              </a:lnSpc>
              <a:spcAft>
                <a:spcPts val="0"/>
              </a:spcAft>
            </a:pPr>
            <a:r>
              <a:rPr sz="1600" b="1">
                <a:solidFill>
                  <a:srgbClr val="3B7562"/>
                </a:solidFill>
                <a:latin typeface="NanumSquare"/>
              </a:rPr>
              <a:t>확인해도 판단이 끝나지 않은 사례</a:t>
            </a:r>
          </a:p>
        </p:txBody>
      </p:sp>
      <p:sp>
        <p:nvSpPr>
          <p:cNvPr id="8" name="TextBox 7"/>
          <p:cNvSpPr txBox="1"/>
          <p:nvPr/>
        </p:nvSpPr>
        <p:spPr>
          <a:xfrm>
            <a:off x="6263640" y="1591056"/>
            <a:ext cx="5358384" cy="310896"/>
          </a:xfrm>
          <a:prstGeom prst="rect">
            <a:avLst/>
          </a:prstGeom>
          <a:noFill/>
        </p:spPr>
        <p:txBody>
          <a:bodyPr wrap="square" lIns="27432" tIns="0" rIns="27432" bIns="0" anchor="ctr">
            <a:spAutoFit/>
          </a:bodyPr>
          <a:lstStyle/>
          <a:p>
            <a:pPr algn="l">
              <a:lnSpc>
                <a:spcPct val="113000"/>
              </a:lnSpc>
              <a:spcAft>
                <a:spcPts val="0"/>
              </a:spcAft>
            </a:pPr>
            <a:r>
              <a:rPr sz="1600" b="1">
                <a:solidFill>
                  <a:srgbClr val="64766A"/>
                </a:solidFill>
                <a:latin typeface="NanumSquare"/>
              </a:rPr>
              <a:t>문제의 원인이 다른 사례</a:t>
            </a:r>
          </a:p>
        </p:txBody>
      </p:sp>
      <p:sp>
        <p:nvSpPr>
          <p:cNvPr id="9" name="Rounded Rectangle 8"/>
          <p:cNvSpPr/>
          <p:nvPr/>
        </p:nvSpPr>
        <p:spPr>
          <a:xfrm>
            <a:off x="594360" y="1975104"/>
            <a:ext cx="5340096" cy="1335024"/>
          </a:xfrm>
          <a:prstGeom prst="roundRect">
            <a:avLst>
              <a:gd name="adj" fmla="val 9000"/>
            </a:avLst>
          </a:prstGeom>
          <a:solidFill>
            <a:srgbClr val="EFF4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ounded Rectangle 9"/>
          <p:cNvSpPr/>
          <p:nvPr/>
        </p:nvSpPr>
        <p:spPr>
          <a:xfrm>
            <a:off x="768096" y="2139696"/>
            <a:ext cx="640080" cy="384048"/>
          </a:xfrm>
          <a:prstGeom prst="roundRect">
            <a:avLst>
              <a:gd name="adj" fmla="val 9000"/>
            </a:avLst>
          </a:prstGeom>
          <a:solidFill>
            <a:srgbClr val="3B75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68096" y="2148840"/>
            <a:ext cx="640080" cy="356616"/>
          </a:xfrm>
          <a:prstGeom prst="rect">
            <a:avLst/>
          </a:prstGeom>
          <a:noFill/>
        </p:spPr>
        <p:txBody>
          <a:bodyPr wrap="square" lIns="27432" tIns="0" rIns="27432" bIns="0" anchor="ctr">
            <a:spAutoFit/>
          </a:bodyPr>
          <a:lstStyle/>
          <a:p>
            <a:pPr algn="ctr">
              <a:lnSpc>
                <a:spcPct val="113000"/>
              </a:lnSpc>
              <a:spcAft>
                <a:spcPts val="0"/>
              </a:spcAft>
            </a:pPr>
            <a:r>
              <a:rPr sz="1600" b="1">
                <a:solidFill>
                  <a:srgbClr val="FFFFFF"/>
                </a:solidFill>
                <a:latin typeface="NanumSquare"/>
              </a:rPr>
              <a:t>R3</a:t>
            </a:r>
          </a:p>
        </p:txBody>
      </p:sp>
      <p:sp>
        <p:nvSpPr>
          <p:cNvPr id="12" name="TextBox 11"/>
          <p:cNvSpPr txBox="1"/>
          <p:nvPr/>
        </p:nvSpPr>
        <p:spPr>
          <a:xfrm>
            <a:off x="1536192" y="2103120"/>
            <a:ext cx="4206240" cy="384048"/>
          </a:xfrm>
          <a:prstGeom prst="rect">
            <a:avLst/>
          </a:prstGeom>
          <a:noFill/>
        </p:spPr>
        <p:txBody>
          <a:bodyPr wrap="square" lIns="27432" tIns="0" rIns="27432" bIns="0" anchor="ctr">
            <a:spAutoFit/>
          </a:bodyPr>
          <a:lstStyle/>
          <a:p>
            <a:pPr algn="l">
              <a:lnSpc>
                <a:spcPct val="113000"/>
              </a:lnSpc>
              <a:spcAft>
                <a:spcPts val="0"/>
              </a:spcAft>
            </a:pPr>
            <a:r>
              <a:rPr sz="1700" b="1">
                <a:solidFill>
                  <a:srgbClr val="203B2C"/>
                </a:solidFill>
                <a:latin typeface="NanumSquare"/>
              </a:rPr>
              <a:t>지인 조언 → 일부 실행</a:t>
            </a:r>
          </a:p>
        </p:txBody>
      </p:sp>
      <p:sp>
        <p:nvSpPr>
          <p:cNvPr id="13" name="TextBox 12"/>
          <p:cNvSpPr txBox="1"/>
          <p:nvPr/>
        </p:nvSpPr>
        <p:spPr>
          <a:xfrm>
            <a:off x="804672" y="2587752"/>
            <a:ext cx="4910328" cy="283464"/>
          </a:xfrm>
          <a:prstGeom prst="rect">
            <a:avLst/>
          </a:prstGeom>
          <a:noFill/>
        </p:spPr>
        <p:txBody>
          <a:bodyPr wrap="square" lIns="27432" tIns="0" rIns="27432" bIns="0" anchor="ctr">
            <a:spAutoFit/>
          </a:bodyPr>
          <a:lstStyle/>
          <a:p>
            <a:pPr algn="l">
              <a:lnSpc>
                <a:spcPct val="113000"/>
              </a:lnSpc>
              <a:spcAft>
                <a:spcPts val="0"/>
              </a:spcAft>
            </a:pPr>
            <a:r>
              <a:rPr sz="1400" b="0">
                <a:solidFill>
                  <a:srgbClr val="203B2C"/>
                </a:solidFill>
                <a:latin typeface="NanumSquare"/>
              </a:rPr>
              <a:t>지인 의견에 모두 동의하지 못함</a:t>
            </a:r>
          </a:p>
        </p:txBody>
      </p:sp>
      <p:sp>
        <p:nvSpPr>
          <p:cNvPr id="14" name="TextBox 13"/>
          <p:cNvSpPr txBox="1"/>
          <p:nvPr/>
        </p:nvSpPr>
        <p:spPr>
          <a:xfrm>
            <a:off x="804672" y="2944368"/>
            <a:ext cx="4937760" cy="256032"/>
          </a:xfrm>
          <a:prstGeom prst="rect">
            <a:avLst/>
          </a:prstGeom>
          <a:noFill/>
        </p:spPr>
        <p:txBody>
          <a:bodyPr wrap="square" lIns="27432" tIns="0" rIns="27432" bIns="0" anchor="ctr">
            <a:spAutoFit/>
          </a:bodyPr>
          <a:lstStyle/>
          <a:p>
            <a:pPr algn="l">
              <a:lnSpc>
                <a:spcPct val="113000"/>
              </a:lnSpc>
              <a:spcAft>
                <a:spcPts val="0"/>
              </a:spcAft>
            </a:pPr>
            <a:r>
              <a:rPr sz="1200" b="0">
                <a:solidFill>
                  <a:srgbClr val="64766A"/>
                </a:solidFill>
                <a:latin typeface="NanumSquare"/>
              </a:rPr>
              <a:t>뉴스·시황 확인에 며칠</a:t>
            </a:r>
          </a:p>
        </p:txBody>
      </p:sp>
      <p:sp>
        <p:nvSpPr>
          <p:cNvPr id="15" name="Rounded Rectangle 14"/>
          <p:cNvSpPr/>
          <p:nvPr/>
        </p:nvSpPr>
        <p:spPr>
          <a:xfrm>
            <a:off x="594360" y="3456432"/>
            <a:ext cx="5340096" cy="1335024"/>
          </a:xfrm>
          <a:prstGeom prst="roundRect">
            <a:avLst>
              <a:gd name="adj" fmla="val 9000"/>
            </a:avLst>
          </a:prstGeom>
          <a:solidFill>
            <a:srgbClr val="EFF4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ounded Rectangle 15"/>
          <p:cNvSpPr/>
          <p:nvPr/>
        </p:nvSpPr>
        <p:spPr>
          <a:xfrm>
            <a:off x="768096" y="3621024"/>
            <a:ext cx="640080" cy="384048"/>
          </a:xfrm>
          <a:prstGeom prst="roundRect">
            <a:avLst>
              <a:gd name="adj" fmla="val 9000"/>
            </a:avLst>
          </a:prstGeom>
          <a:solidFill>
            <a:srgbClr val="3B75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768096" y="3630168"/>
            <a:ext cx="640080" cy="356616"/>
          </a:xfrm>
          <a:prstGeom prst="rect">
            <a:avLst/>
          </a:prstGeom>
          <a:noFill/>
        </p:spPr>
        <p:txBody>
          <a:bodyPr wrap="square" lIns="27432" tIns="0" rIns="27432" bIns="0" anchor="ctr">
            <a:spAutoFit/>
          </a:bodyPr>
          <a:lstStyle/>
          <a:p>
            <a:pPr algn="ctr">
              <a:lnSpc>
                <a:spcPct val="113000"/>
              </a:lnSpc>
              <a:spcAft>
                <a:spcPts val="0"/>
              </a:spcAft>
            </a:pPr>
            <a:r>
              <a:rPr sz="1600" b="1">
                <a:solidFill>
                  <a:srgbClr val="FFFFFF"/>
                </a:solidFill>
                <a:latin typeface="NanumSquare"/>
              </a:rPr>
              <a:t>R9</a:t>
            </a:r>
          </a:p>
        </p:txBody>
      </p:sp>
      <p:sp>
        <p:nvSpPr>
          <p:cNvPr id="18" name="TextBox 17"/>
          <p:cNvSpPr txBox="1"/>
          <p:nvPr/>
        </p:nvSpPr>
        <p:spPr>
          <a:xfrm>
            <a:off x="1536192" y="3584448"/>
            <a:ext cx="4206240" cy="384048"/>
          </a:xfrm>
          <a:prstGeom prst="rect">
            <a:avLst/>
          </a:prstGeom>
          <a:noFill/>
        </p:spPr>
        <p:txBody>
          <a:bodyPr wrap="square" lIns="27432" tIns="0" rIns="27432" bIns="0" anchor="ctr">
            <a:spAutoFit/>
          </a:bodyPr>
          <a:lstStyle/>
          <a:p>
            <a:pPr algn="l">
              <a:lnSpc>
                <a:spcPct val="113000"/>
              </a:lnSpc>
              <a:spcAft>
                <a:spcPts val="0"/>
              </a:spcAft>
            </a:pPr>
            <a:r>
              <a:rPr sz="1700" b="1">
                <a:solidFill>
                  <a:srgbClr val="203B2C"/>
                </a:solidFill>
                <a:latin typeface="NanumSquare"/>
              </a:rPr>
              <a:t>의심 정보 → 교차확인</a:t>
            </a:r>
          </a:p>
        </p:txBody>
      </p:sp>
      <p:sp>
        <p:nvSpPr>
          <p:cNvPr id="19" name="TextBox 18"/>
          <p:cNvSpPr txBox="1"/>
          <p:nvPr/>
        </p:nvSpPr>
        <p:spPr>
          <a:xfrm>
            <a:off x="804672" y="4069080"/>
            <a:ext cx="4910328" cy="283464"/>
          </a:xfrm>
          <a:prstGeom prst="rect">
            <a:avLst/>
          </a:prstGeom>
          <a:noFill/>
        </p:spPr>
        <p:txBody>
          <a:bodyPr wrap="square" lIns="27432" tIns="0" rIns="27432" bIns="0" anchor="ctr">
            <a:spAutoFit/>
          </a:bodyPr>
          <a:lstStyle/>
          <a:p>
            <a:pPr algn="l">
              <a:lnSpc>
                <a:spcPct val="113000"/>
              </a:lnSpc>
              <a:spcAft>
                <a:spcPts val="0"/>
              </a:spcAft>
            </a:pPr>
            <a:r>
              <a:rPr sz="1400" b="0">
                <a:solidFill>
                  <a:srgbClr val="203B2C"/>
                </a:solidFill>
                <a:latin typeface="NanumSquare"/>
              </a:rPr>
              <a:t>다른 출처를 비교함</a:t>
            </a:r>
          </a:p>
        </p:txBody>
      </p:sp>
      <p:sp>
        <p:nvSpPr>
          <p:cNvPr id="20" name="TextBox 19"/>
          <p:cNvSpPr txBox="1"/>
          <p:nvPr/>
        </p:nvSpPr>
        <p:spPr>
          <a:xfrm>
            <a:off x="804672" y="4425696"/>
            <a:ext cx="4937760" cy="256032"/>
          </a:xfrm>
          <a:prstGeom prst="rect">
            <a:avLst/>
          </a:prstGeom>
          <a:noFill/>
        </p:spPr>
        <p:txBody>
          <a:bodyPr wrap="square" lIns="27432" tIns="0" rIns="27432" bIns="0" anchor="ctr">
            <a:spAutoFit/>
          </a:bodyPr>
          <a:lstStyle/>
          <a:p>
            <a:pPr algn="l">
              <a:lnSpc>
                <a:spcPct val="113000"/>
              </a:lnSpc>
              <a:spcAft>
                <a:spcPts val="0"/>
              </a:spcAft>
            </a:pPr>
            <a:r>
              <a:rPr sz="1200" b="0">
                <a:solidFill>
                  <a:srgbClr val="64766A"/>
                </a:solidFill>
                <a:latin typeface="NanumSquare"/>
              </a:rPr>
              <a:t>확인 후에도 항상 결론을 내리지는 못함</a:t>
            </a:r>
          </a:p>
        </p:txBody>
      </p:sp>
      <p:sp>
        <p:nvSpPr>
          <p:cNvPr id="21" name="Rounded Rectangle 20"/>
          <p:cNvSpPr/>
          <p:nvPr/>
        </p:nvSpPr>
        <p:spPr>
          <a:xfrm>
            <a:off x="6254496" y="1975104"/>
            <a:ext cx="5340096" cy="1335024"/>
          </a:xfrm>
          <a:prstGeom prst="roundRect">
            <a:avLst>
              <a:gd name="adj" fmla="val 9000"/>
            </a:avLst>
          </a:prstGeom>
          <a:solidFill>
            <a:srgbClr val="F7F9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ounded Rectangle 21"/>
          <p:cNvSpPr/>
          <p:nvPr/>
        </p:nvSpPr>
        <p:spPr>
          <a:xfrm>
            <a:off x="6428232" y="2139696"/>
            <a:ext cx="640080" cy="384048"/>
          </a:xfrm>
          <a:prstGeom prst="roundRect">
            <a:avLst>
              <a:gd name="adj" fmla="val 9000"/>
            </a:avLst>
          </a:prstGeom>
          <a:solidFill>
            <a:srgbClr val="B7C9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6428232" y="2148840"/>
            <a:ext cx="640080" cy="356616"/>
          </a:xfrm>
          <a:prstGeom prst="rect">
            <a:avLst/>
          </a:prstGeom>
          <a:noFill/>
        </p:spPr>
        <p:txBody>
          <a:bodyPr wrap="square" lIns="27432" tIns="0" rIns="27432" bIns="0" anchor="ctr">
            <a:spAutoFit/>
          </a:bodyPr>
          <a:lstStyle/>
          <a:p>
            <a:pPr algn="ctr">
              <a:lnSpc>
                <a:spcPct val="113000"/>
              </a:lnSpc>
              <a:spcAft>
                <a:spcPts val="0"/>
              </a:spcAft>
            </a:pPr>
            <a:r>
              <a:rPr sz="1600" b="1">
                <a:solidFill>
                  <a:srgbClr val="FFFFFF"/>
                </a:solidFill>
                <a:latin typeface="NanumSquare"/>
              </a:rPr>
              <a:t>R7</a:t>
            </a:r>
          </a:p>
        </p:txBody>
      </p:sp>
      <p:sp>
        <p:nvSpPr>
          <p:cNvPr id="24" name="TextBox 23"/>
          <p:cNvSpPr txBox="1"/>
          <p:nvPr/>
        </p:nvSpPr>
        <p:spPr>
          <a:xfrm>
            <a:off x="7196328" y="2103120"/>
            <a:ext cx="4206240" cy="384048"/>
          </a:xfrm>
          <a:prstGeom prst="rect">
            <a:avLst/>
          </a:prstGeom>
          <a:noFill/>
        </p:spPr>
        <p:txBody>
          <a:bodyPr wrap="square" lIns="27432" tIns="0" rIns="27432" bIns="0" anchor="ctr">
            <a:spAutoFit/>
          </a:bodyPr>
          <a:lstStyle/>
          <a:p>
            <a:pPr algn="l">
              <a:lnSpc>
                <a:spcPct val="113000"/>
              </a:lnSpc>
              <a:spcAft>
                <a:spcPts val="0"/>
              </a:spcAft>
            </a:pPr>
            <a:r>
              <a:rPr sz="1700" b="1">
                <a:solidFill>
                  <a:srgbClr val="203B2C"/>
                </a:solidFill>
                <a:latin typeface="NanumSquare"/>
              </a:rPr>
              <a:t>의심 정보 → 공시 확인</a:t>
            </a:r>
          </a:p>
        </p:txBody>
      </p:sp>
      <p:sp>
        <p:nvSpPr>
          <p:cNvPr id="25" name="TextBox 24"/>
          <p:cNvSpPr txBox="1"/>
          <p:nvPr/>
        </p:nvSpPr>
        <p:spPr>
          <a:xfrm>
            <a:off x="6464808" y="2587752"/>
            <a:ext cx="4910328" cy="283464"/>
          </a:xfrm>
          <a:prstGeom prst="rect">
            <a:avLst/>
          </a:prstGeom>
          <a:noFill/>
        </p:spPr>
        <p:txBody>
          <a:bodyPr wrap="square" lIns="27432" tIns="0" rIns="27432" bIns="0" anchor="ctr">
            <a:spAutoFit/>
          </a:bodyPr>
          <a:lstStyle/>
          <a:p>
            <a:pPr algn="l">
              <a:lnSpc>
                <a:spcPct val="113000"/>
              </a:lnSpc>
              <a:spcAft>
                <a:spcPts val="0"/>
              </a:spcAft>
            </a:pPr>
            <a:r>
              <a:rPr sz="1400" b="0">
                <a:solidFill>
                  <a:srgbClr val="203B2C"/>
                </a:solidFill>
                <a:latin typeface="NanumSquare"/>
              </a:rPr>
              <a:t>5분 만에 판단</a:t>
            </a:r>
          </a:p>
        </p:txBody>
      </p:sp>
      <p:sp>
        <p:nvSpPr>
          <p:cNvPr id="26" name="TextBox 25"/>
          <p:cNvSpPr txBox="1"/>
          <p:nvPr/>
        </p:nvSpPr>
        <p:spPr>
          <a:xfrm>
            <a:off x="6464808" y="2944368"/>
            <a:ext cx="4937760" cy="256032"/>
          </a:xfrm>
          <a:prstGeom prst="rect">
            <a:avLst/>
          </a:prstGeom>
          <a:noFill/>
        </p:spPr>
        <p:txBody>
          <a:bodyPr wrap="square" lIns="27432" tIns="0" rIns="27432" bIns="0" anchor="ctr">
            <a:spAutoFit/>
          </a:bodyPr>
          <a:lstStyle/>
          <a:p>
            <a:pPr algn="l">
              <a:lnSpc>
                <a:spcPct val="113000"/>
              </a:lnSpc>
              <a:spcAft>
                <a:spcPts val="0"/>
              </a:spcAft>
            </a:pPr>
            <a:r>
              <a:rPr sz="1200" b="0">
                <a:solidFill>
                  <a:srgbClr val="64766A"/>
                </a:solidFill>
                <a:latin typeface="NanumSquare"/>
              </a:rPr>
              <a:t>근거 확인으로 판단 완료</a:t>
            </a:r>
          </a:p>
        </p:txBody>
      </p:sp>
      <p:sp>
        <p:nvSpPr>
          <p:cNvPr id="27" name="Rounded Rectangle 26"/>
          <p:cNvSpPr/>
          <p:nvPr/>
        </p:nvSpPr>
        <p:spPr>
          <a:xfrm>
            <a:off x="6254496" y="3456432"/>
            <a:ext cx="5340096" cy="1335024"/>
          </a:xfrm>
          <a:prstGeom prst="roundRect">
            <a:avLst>
              <a:gd name="adj" fmla="val 9000"/>
            </a:avLst>
          </a:prstGeom>
          <a:solidFill>
            <a:srgbClr val="F7F9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ounded Rectangle 27"/>
          <p:cNvSpPr/>
          <p:nvPr/>
        </p:nvSpPr>
        <p:spPr>
          <a:xfrm>
            <a:off x="6428232" y="3621024"/>
            <a:ext cx="640080" cy="384048"/>
          </a:xfrm>
          <a:prstGeom prst="roundRect">
            <a:avLst>
              <a:gd name="adj" fmla="val 9000"/>
            </a:avLst>
          </a:prstGeom>
          <a:solidFill>
            <a:srgbClr val="B7C9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6428232" y="3630168"/>
            <a:ext cx="640080" cy="356616"/>
          </a:xfrm>
          <a:prstGeom prst="rect">
            <a:avLst/>
          </a:prstGeom>
          <a:noFill/>
        </p:spPr>
        <p:txBody>
          <a:bodyPr wrap="square" lIns="27432" tIns="0" rIns="27432" bIns="0" anchor="ctr">
            <a:spAutoFit/>
          </a:bodyPr>
          <a:lstStyle/>
          <a:p>
            <a:pPr algn="ctr">
              <a:lnSpc>
                <a:spcPct val="113000"/>
              </a:lnSpc>
              <a:spcAft>
                <a:spcPts val="0"/>
              </a:spcAft>
            </a:pPr>
            <a:r>
              <a:rPr sz="1600" b="1">
                <a:solidFill>
                  <a:srgbClr val="FFFFFF"/>
                </a:solidFill>
                <a:latin typeface="NanumSquare"/>
              </a:rPr>
              <a:t>R6</a:t>
            </a:r>
          </a:p>
        </p:txBody>
      </p:sp>
      <p:sp>
        <p:nvSpPr>
          <p:cNvPr id="30" name="TextBox 29"/>
          <p:cNvSpPr txBox="1"/>
          <p:nvPr/>
        </p:nvSpPr>
        <p:spPr>
          <a:xfrm>
            <a:off x="7196328" y="3584448"/>
            <a:ext cx="4206240" cy="384048"/>
          </a:xfrm>
          <a:prstGeom prst="rect">
            <a:avLst/>
          </a:prstGeom>
          <a:noFill/>
        </p:spPr>
        <p:txBody>
          <a:bodyPr wrap="square" lIns="27432" tIns="0" rIns="27432" bIns="0" anchor="ctr">
            <a:spAutoFit/>
          </a:bodyPr>
          <a:lstStyle/>
          <a:p>
            <a:pPr algn="l">
              <a:lnSpc>
                <a:spcPct val="113000"/>
              </a:lnSpc>
              <a:spcAft>
                <a:spcPts val="0"/>
              </a:spcAft>
            </a:pPr>
            <a:r>
              <a:rPr sz="1700" b="1">
                <a:solidFill>
                  <a:srgbClr val="203B2C"/>
                </a:solidFill>
                <a:latin typeface="NanumSquare"/>
              </a:rPr>
              <a:t>유튜브 조언 → 미실행</a:t>
            </a:r>
          </a:p>
        </p:txBody>
      </p:sp>
      <p:sp>
        <p:nvSpPr>
          <p:cNvPr id="31" name="TextBox 30"/>
          <p:cNvSpPr txBox="1"/>
          <p:nvPr/>
        </p:nvSpPr>
        <p:spPr>
          <a:xfrm>
            <a:off x="6464808" y="4069080"/>
            <a:ext cx="4910328" cy="283464"/>
          </a:xfrm>
          <a:prstGeom prst="rect">
            <a:avLst/>
          </a:prstGeom>
          <a:noFill/>
        </p:spPr>
        <p:txBody>
          <a:bodyPr wrap="square" lIns="27432" tIns="0" rIns="27432" bIns="0" anchor="ctr">
            <a:spAutoFit/>
          </a:bodyPr>
          <a:lstStyle/>
          <a:p>
            <a:pPr algn="l">
              <a:lnSpc>
                <a:spcPct val="113000"/>
              </a:lnSpc>
              <a:spcAft>
                <a:spcPts val="0"/>
              </a:spcAft>
            </a:pPr>
            <a:r>
              <a:rPr sz="1400" b="0">
                <a:solidFill>
                  <a:srgbClr val="203B2C"/>
                </a:solidFill>
                <a:latin typeface="NanumSquare"/>
              </a:rPr>
              <a:t>“귀찮아서”</a:t>
            </a:r>
          </a:p>
        </p:txBody>
      </p:sp>
      <p:sp>
        <p:nvSpPr>
          <p:cNvPr id="32" name="TextBox 31"/>
          <p:cNvSpPr txBox="1"/>
          <p:nvPr/>
        </p:nvSpPr>
        <p:spPr>
          <a:xfrm>
            <a:off x="6464808" y="4425696"/>
            <a:ext cx="4937760" cy="256032"/>
          </a:xfrm>
          <a:prstGeom prst="rect">
            <a:avLst/>
          </a:prstGeom>
          <a:noFill/>
        </p:spPr>
        <p:txBody>
          <a:bodyPr wrap="square" lIns="27432" tIns="0" rIns="27432" bIns="0" anchor="ctr">
            <a:spAutoFit/>
          </a:bodyPr>
          <a:lstStyle/>
          <a:p>
            <a:pPr algn="l">
              <a:lnSpc>
                <a:spcPct val="113000"/>
              </a:lnSpc>
              <a:spcAft>
                <a:spcPts val="0"/>
              </a:spcAft>
            </a:pPr>
            <a:r>
              <a:rPr sz="1200" b="0">
                <a:solidFill>
                  <a:srgbClr val="64766A"/>
                </a:solidFill>
                <a:latin typeface="NanumSquare"/>
              </a:rPr>
              <a:t>근거 부족과 다른 이유</a:t>
            </a:r>
          </a:p>
        </p:txBody>
      </p:sp>
      <p:sp>
        <p:nvSpPr>
          <p:cNvPr id="33" name="Rounded Rectangle 32"/>
          <p:cNvSpPr/>
          <p:nvPr/>
        </p:nvSpPr>
        <p:spPr>
          <a:xfrm>
            <a:off x="585216" y="5138928"/>
            <a:ext cx="11009376" cy="804672"/>
          </a:xfrm>
          <a:prstGeom prst="roundRect">
            <a:avLst>
              <a:gd name="adj" fmla="val 9000"/>
            </a:avLst>
          </a:prstGeom>
          <a:solidFill>
            <a:srgbClr val="1D3B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859536" y="5340096"/>
            <a:ext cx="1179576" cy="365760"/>
          </a:xfrm>
          <a:prstGeom prst="rect">
            <a:avLst/>
          </a:prstGeom>
          <a:noFill/>
        </p:spPr>
        <p:txBody>
          <a:bodyPr wrap="square" lIns="27432" tIns="0" rIns="27432" bIns="0" anchor="ctr">
            <a:spAutoFit/>
          </a:bodyPr>
          <a:lstStyle/>
          <a:p>
            <a:pPr algn="l">
              <a:lnSpc>
                <a:spcPct val="113000"/>
              </a:lnSpc>
              <a:spcAft>
                <a:spcPts val="0"/>
              </a:spcAft>
            </a:pPr>
            <a:r>
              <a:rPr sz="1600" b="1">
                <a:solidFill>
                  <a:srgbClr val="A7CDB8"/>
                </a:solidFill>
                <a:latin typeface="NanumSquare"/>
              </a:rPr>
              <a:t>주요 대상</a:t>
            </a:r>
          </a:p>
        </p:txBody>
      </p:sp>
      <p:sp>
        <p:nvSpPr>
          <p:cNvPr id="35" name="TextBox 34"/>
          <p:cNvSpPr txBox="1"/>
          <p:nvPr/>
        </p:nvSpPr>
        <p:spPr>
          <a:xfrm>
            <a:off x="2167128" y="5276088"/>
            <a:ext cx="9098280" cy="484632"/>
          </a:xfrm>
          <a:prstGeom prst="rect">
            <a:avLst/>
          </a:prstGeom>
          <a:noFill/>
        </p:spPr>
        <p:txBody>
          <a:bodyPr wrap="square" lIns="27432" tIns="0" rIns="27432" bIns="0" anchor="ctr">
            <a:spAutoFit/>
          </a:bodyPr>
          <a:lstStyle/>
          <a:p>
            <a:pPr algn="l">
              <a:lnSpc>
                <a:spcPct val="113000"/>
              </a:lnSpc>
              <a:spcAft>
                <a:spcPts val="0"/>
              </a:spcAft>
            </a:pPr>
            <a:r>
              <a:rPr sz="1900" b="1">
                <a:solidFill>
                  <a:srgbClr val="FFFFFF"/>
                </a:solidFill>
                <a:latin typeface="NanumSquare"/>
              </a:rPr>
              <a:t>근거를 추가 확인해도 비교와 최종 투자 판단이 어려운 사용자</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57784" y="320040"/>
            <a:ext cx="10561320" cy="676656"/>
          </a:xfrm>
          <a:prstGeom prst="rect">
            <a:avLst/>
          </a:prstGeom>
          <a:noFill/>
        </p:spPr>
        <p:txBody>
          <a:bodyPr wrap="square" lIns="27432" tIns="0" rIns="27432" bIns="0" anchor="ctr">
            <a:spAutoFit/>
          </a:bodyPr>
          <a:lstStyle/>
          <a:p>
            <a:pPr algn="l">
              <a:lnSpc>
                <a:spcPct val="113000"/>
              </a:lnSpc>
              <a:spcAft>
                <a:spcPts val="0"/>
              </a:spcAft>
            </a:pPr>
            <a:r>
              <a:rPr sz="3000" b="1">
                <a:solidFill>
                  <a:srgbClr val="203B2C"/>
                </a:solidFill>
                <a:latin typeface="NanumSquare"/>
              </a:rPr>
              <a:t>도메인 선정과 문제 정의</a:t>
            </a:r>
          </a:p>
        </p:txBody>
      </p:sp>
      <p:cxnSp>
        <p:nvCxnSpPr>
          <p:cNvPr id="3" name="Connector 2"/>
          <p:cNvCxnSpPr/>
          <p:nvPr/>
        </p:nvCxnSpPr>
        <p:spPr>
          <a:xfrm>
            <a:off x="594360" y="1188720"/>
            <a:ext cx="11000232" cy="0"/>
          </a:xfrm>
          <a:prstGeom prst="line">
            <a:avLst/>
          </a:prstGeom>
          <a:ln w="12700">
            <a:solidFill>
              <a:srgbClr val="DCE6DD"/>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585216" y="6373368"/>
            <a:ext cx="5486400" cy="192024"/>
          </a:xfrm>
          <a:prstGeom prst="rect">
            <a:avLst/>
          </a:prstGeom>
          <a:noFill/>
        </p:spPr>
        <p:txBody>
          <a:bodyPr wrap="square" lIns="27432" tIns="0" rIns="27432" bIns="0" anchor="ctr">
            <a:spAutoFit/>
          </a:bodyPr>
          <a:lstStyle/>
          <a:p>
            <a:pPr algn="l">
              <a:lnSpc>
                <a:spcPct val="113000"/>
              </a:lnSpc>
              <a:spcAft>
                <a:spcPts val="0"/>
              </a:spcAft>
            </a:pPr>
            <a:r>
              <a:rPr sz="1000" b="0">
                <a:solidFill>
                  <a:srgbClr val="64766A"/>
                </a:solidFill>
                <a:latin typeface="NanumSquare"/>
              </a:rPr>
              <a:t>개미구조대  ·  AI 캡스톤 디자인</a:t>
            </a:r>
          </a:p>
        </p:txBody>
      </p:sp>
      <p:sp>
        <p:nvSpPr>
          <p:cNvPr id="5" name="TextBox 4"/>
          <p:cNvSpPr txBox="1"/>
          <p:nvPr/>
        </p:nvSpPr>
        <p:spPr>
          <a:xfrm>
            <a:off x="11109960" y="6364224"/>
            <a:ext cx="457200" cy="219456"/>
          </a:xfrm>
          <a:prstGeom prst="rect">
            <a:avLst/>
          </a:prstGeom>
          <a:noFill/>
        </p:spPr>
        <p:txBody>
          <a:bodyPr wrap="square" lIns="27432" tIns="0" rIns="27432" bIns="0" anchor="ctr">
            <a:spAutoFit/>
          </a:bodyPr>
          <a:lstStyle/>
          <a:p>
            <a:pPr algn="r">
              <a:lnSpc>
                <a:spcPct val="113000"/>
              </a:lnSpc>
              <a:spcAft>
                <a:spcPts val="0"/>
              </a:spcAft>
            </a:pPr>
            <a:r>
              <a:rPr sz="1100" b="0">
                <a:solidFill>
                  <a:srgbClr val="64766A"/>
                </a:solidFill>
                <a:latin typeface="NanumSquare"/>
              </a:rPr>
              <a:t>3</a:t>
            </a:r>
          </a:p>
        </p:txBody>
      </p:sp>
      <p:sp>
        <p:nvSpPr>
          <p:cNvPr id="6" name="Rounded Rectangle 5"/>
          <p:cNvSpPr/>
          <p:nvPr/>
        </p:nvSpPr>
        <p:spPr>
          <a:xfrm>
            <a:off x="603504" y="1572768"/>
            <a:ext cx="3483864" cy="2377440"/>
          </a:xfrm>
          <a:prstGeom prst="roundRect">
            <a:avLst>
              <a:gd name="adj" fmla="val 9000"/>
            </a:avLst>
          </a:prstGeom>
          <a:solidFill>
            <a:srgbClr val="EFF4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50392" y="1783080"/>
            <a:ext cx="3017520" cy="329184"/>
          </a:xfrm>
          <a:prstGeom prst="rect">
            <a:avLst/>
          </a:prstGeom>
          <a:noFill/>
        </p:spPr>
        <p:txBody>
          <a:bodyPr wrap="square" lIns="27432" tIns="0" rIns="27432" bIns="0" anchor="ctr">
            <a:spAutoFit/>
          </a:bodyPr>
          <a:lstStyle/>
          <a:p>
            <a:pPr algn="l">
              <a:lnSpc>
                <a:spcPct val="113000"/>
              </a:lnSpc>
              <a:spcAft>
                <a:spcPts val="0"/>
              </a:spcAft>
            </a:pPr>
            <a:r>
              <a:rPr sz="1300" b="1">
                <a:solidFill>
                  <a:srgbClr val="3B7562"/>
                </a:solidFill>
                <a:latin typeface="NanumSquare"/>
              </a:rPr>
              <a:t>범위 흡수</a:t>
            </a:r>
          </a:p>
        </p:txBody>
      </p:sp>
      <p:sp>
        <p:nvSpPr>
          <p:cNvPr id="8" name="TextBox 7"/>
          <p:cNvSpPr txBox="1"/>
          <p:nvPr/>
        </p:nvSpPr>
        <p:spPr>
          <a:xfrm>
            <a:off x="850392" y="2221992"/>
            <a:ext cx="3081528" cy="438912"/>
          </a:xfrm>
          <a:prstGeom prst="rect">
            <a:avLst/>
          </a:prstGeom>
          <a:noFill/>
        </p:spPr>
        <p:txBody>
          <a:bodyPr wrap="square" lIns="27432" tIns="0" rIns="27432" bIns="0" anchor="ctr">
            <a:spAutoFit/>
          </a:bodyPr>
          <a:lstStyle/>
          <a:p>
            <a:pPr algn="l">
              <a:lnSpc>
                <a:spcPct val="113000"/>
              </a:lnSpc>
              <a:spcAft>
                <a:spcPts val="0"/>
              </a:spcAft>
            </a:pPr>
            <a:r>
              <a:rPr sz="2000" b="1">
                <a:solidFill>
                  <a:srgbClr val="203B2C"/>
                </a:solidFill>
                <a:latin typeface="NanumSquare"/>
              </a:rPr>
              <a:t>종합 자산관리</a:t>
            </a:r>
          </a:p>
        </p:txBody>
      </p:sp>
      <p:sp>
        <p:nvSpPr>
          <p:cNvPr id="9" name="TextBox 8"/>
          <p:cNvSpPr txBox="1"/>
          <p:nvPr/>
        </p:nvSpPr>
        <p:spPr>
          <a:xfrm>
            <a:off x="850392" y="2852928"/>
            <a:ext cx="2999232" cy="722376"/>
          </a:xfrm>
          <a:prstGeom prst="rect">
            <a:avLst/>
          </a:prstGeom>
          <a:noFill/>
        </p:spPr>
        <p:txBody>
          <a:bodyPr wrap="square" lIns="27432" tIns="0" rIns="27432" bIns="0" anchor="ctr">
            <a:spAutoFit/>
          </a:bodyPr>
          <a:lstStyle/>
          <a:p>
            <a:pPr algn="l">
              <a:lnSpc>
                <a:spcPct val="113000"/>
              </a:lnSpc>
              <a:spcAft>
                <a:spcPts val="0"/>
              </a:spcAft>
            </a:pPr>
            <a:r>
              <a:rPr sz="1400" b="0">
                <a:solidFill>
                  <a:srgbClr val="203B2C"/>
                </a:solidFill>
                <a:latin typeface="NanumSquare"/>
              </a:rPr>
              <a:t>투자 제안을 검토하는 단계의 어려움에 집중</a:t>
            </a:r>
          </a:p>
        </p:txBody>
      </p:sp>
      <p:sp>
        <p:nvSpPr>
          <p:cNvPr id="10" name="Rounded Rectangle 9"/>
          <p:cNvSpPr/>
          <p:nvPr/>
        </p:nvSpPr>
        <p:spPr>
          <a:xfrm>
            <a:off x="4334256" y="1572768"/>
            <a:ext cx="3483864" cy="2377440"/>
          </a:xfrm>
          <a:prstGeom prst="roundRect">
            <a:avLst>
              <a:gd name="adj" fmla="val 9000"/>
            </a:avLst>
          </a:prstGeom>
          <a:solidFill>
            <a:srgbClr val="1D3B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4581144" y="1783080"/>
            <a:ext cx="3017520" cy="329184"/>
          </a:xfrm>
          <a:prstGeom prst="rect">
            <a:avLst/>
          </a:prstGeom>
          <a:noFill/>
        </p:spPr>
        <p:txBody>
          <a:bodyPr wrap="square" lIns="27432" tIns="0" rIns="27432" bIns="0" anchor="ctr">
            <a:spAutoFit/>
          </a:bodyPr>
          <a:lstStyle/>
          <a:p>
            <a:pPr algn="l">
              <a:lnSpc>
                <a:spcPct val="113000"/>
              </a:lnSpc>
              <a:spcAft>
                <a:spcPts val="0"/>
              </a:spcAft>
            </a:pPr>
            <a:r>
              <a:rPr sz="1300" b="1">
                <a:solidFill>
                  <a:srgbClr val="A9D4BD"/>
                </a:solidFill>
                <a:latin typeface="NanumSquare"/>
              </a:rPr>
              <a:t>선정</a:t>
            </a:r>
          </a:p>
        </p:txBody>
      </p:sp>
      <p:sp>
        <p:nvSpPr>
          <p:cNvPr id="12" name="TextBox 11"/>
          <p:cNvSpPr txBox="1"/>
          <p:nvPr/>
        </p:nvSpPr>
        <p:spPr>
          <a:xfrm>
            <a:off x="4581144" y="2221992"/>
            <a:ext cx="3081528" cy="438912"/>
          </a:xfrm>
          <a:prstGeom prst="rect">
            <a:avLst/>
          </a:prstGeom>
          <a:noFill/>
        </p:spPr>
        <p:txBody>
          <a:bodyPr wrap="square" lIns="27432" tIns="0" rIns="27432" bIns="0" anchor="ctr">
            <a:spAutoFit/>
          </a:bodyPr>
          <a:lstStyle/>
          <a:p>
            <a:pPr algn="l">
              <a:lnSpc>
                <a:spcPct val="113000"/>
              </a:lnSpc>
              <a:spcAft>
                <a:spcPts val="0"/>
              </a:spcAft>
            </a:pPr>
            <a:r>
              <a:rPr sz="2000" b="1">
                <a:solidFill>
                  <a:srgbClr val="FFFFFF"/>
                </a:solidFill>
                <a:latin typeface="NanumSquare"/>
              </a:rPr>
              <a:t>투자 의견 정교화</a:t>
            </a:r>
          </a:p>
        </p:txBody>
      </p:sp>
      <p:sp>
        <p:nvSpPr>
          <p:cNvPr id="13" name="TextBox 12"/>
          <p:cNvSpPr txBox="1"/>
          <p:nvPr/>
        </p:nvSpPr>
        <p:spPr>
          <a:xfrm>
            <a:off x="4581144" y="2852928"/>
            <a:ext cx="2999232" cy="722376"/>
          </a:xfrm>
          <a:prstGeom prst="rect">
            <a:avLst/>
          </a:prstGeom>
          <a:noFill/>
        </p:spPr>
        <p:txBody>
          <a:bodyPr wrap="square" lIns="27432" tIns="0" rIns="27432" bIns="0" anchor="ctr">
            <a:spAutoFit/>
          </a:bodyPr>
          <a:lstStyle/>
          <a:p>
            <a:pPr algn="l">
              <a:lnSpc>
                <a:spcPct val="113000"/>
              </a:lnSpc>
              <a:spcAft>
                <a:spcPts val="0"/>
              </a:spcAft>
            </a:pPr>
            <a:r>
              <a:rPr sz="1400" b="0">
                <a:solidFill>
                  <a:srgbClr val="FFFFFF"/>
                </a:solidFill>
                <a:latin typeface="NanumSquare"/>
              </a:rPr>
              <a:t>여러 근거를 비교해 판단을 마무리하는 과정</a:t>
            </a:r>
          </a:p>
        </p:txBody>
      </p:sp>
      <p:sp>
        <p:nvSpPr>
          <p:cNvPr id="14" name="Rounded Rectangle 13"/>
          <p:cNvSpPr/>
          <p:nvPr/>
        </p:nvSpPr>
        <p:spPr>
          <a:xfrm>
            <a:off x="8065008" y="1572768"/>
            <a:ext cx="3483864" cy="2377440"/>
          </a:xfrm>
          <a:prstGeom prst="roundRect">
            <a:avLst>
              <a:gd name="adj" fmla="val 9000"/>
            </a:avLst>
          </a:prstGeom>
          <a:solidFill>
            <a:srgbClr val="F7F9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8311896" y="1783080"/>
            <a:ext cx="3017520" cy="329184"/>
          </a:xfrm>
          <a:prstGeom prst="rect">
            <a:avLst/>
          </a:prstGeom>
          <a:noFill/>
        </p:spPr>
        <p:txBody>
          <a:bodyPr wrap="square" lIns="27432" tIns="0" rIns="27432" bIns="0" anchor="ctr">
            <a:spAutoFit/>
          </a:bodyPr>
          <a:lstStyle/>
          <a:p>
            <a:pPr algn="l">
              <a:lnSpc>
                <a:spcPct val="113000"/>
              </a:lnSpc>
              <a:spcAft>
                <a:spcPts val="0"/>
              </a:spcAft>
            </a:pPr>
            <a:r>
              <a:rPr sz="1300" b="1">
                <a:solidFill>
                  <a:srgbClr val="64766A"/>
                </a:solidFill>
                <a:latin typeface="NanumSquare"/>
              </a:rPr>
              <a:t>제외</a:t>
            </a:r>
          </a:p>
        </p:txBody>
      </p:sp>
      <p:sp>
        <p:nvSpPr>
          <p:cNvPr id="16" name="TextBox 15"/>
          <p:cNvSpPr txBox="1"/>
          <p:nvPr/>
        </p:nvSpPr>
        <p:spPr>
          <a:xfrm>
            <a:off x="8311896" y="2221992"/>
            <a:ext cx="3081528" cy="438912"/>
          </a:xfrm>
          <a:prstGeom prst="rect">
            <a:avLst/>
          </a:prstGeom>
          <a:noFill/>
        </p:spPr>
        <p:txBody>
          <a:bodyPr wrap="square" lIns="27432" tIns="0" rIns="27432" bIns="0" anchor="ctr">
            <a:spAutoFit/>
          </a:bodyPr>
          <a:lstStyle/>
          <a:p>
            <a:pPr algn="l">
              <a:lnSpc>
                <a:spcPct val="113000"/>
              </a:lnSpc>
              <a:spcAft>
                <a:spcPts val="0"/>
              </a:spcAft>
            </a:pPr>
            <a:r>
              <a:rPr sz="2000" b="1">
                <a:solidFill>
                  <a:srgbClr val="64766A"/>
                </a:solidFill>
                <a:latin typeface="NanumSquare"/>
              </a:rPr>
              <a:t>금융정책 탐색</a:t>
            </a:r>
          </a:p>
        </p:txBody>
      </p:sp>
      <p:sp>
        <p:nvSpPr>
          <p:cNvPr id="17" name="TextBox 16"/>
          <p:cNvSpPr txBox="1"/>
          <p:nvPr/>
        </p:nvSpPr>
        <p:spPr>
          <a:xfrm>
            <a:off x="8311896" y="2852928"/>
            <a:ext cx="2999232" cy="722376"/>
          </a:xfrm>
          <a:prstGeom prst="rect">
            <a:avLst/>
          </a:prstGeom>
          <a:noFill/>
        </p:spPr>
        <p:txBody>
          <a:bodyPr wrap="square" lIns="27432" tIns="0" rIns="27432" bIns="0" anchor="ctr">
            <a:spAutoFit/>
          </a:bodyPr>
          <a:lstStyle/>
          <a:p>
            <a:pPr algn="l">
              <a:lnSpc>
                <a:spcPct val="113000"/>
              </a:lnSpc>
              <a:spcAft>
                <a:spcPts val="0"/>
              </a:spcAft>
            </a:pPr>
            <a:r>
              <a:rPr sz="1400" b="0">
                <a:solidFill>
                  <a:srgbClr val="64766A"/>
                </a:solidFill>
                <a:latin typeface="NanumSquare"/>
              </a:rPr>
              <a:t>관련 경험을 확인하지 못함</a:t>
            </a:r>
          </a:p>
        </p:txBody>
      </p:sp>
      <p:sp>
        <p:nvSpPr>
          <p:cNvPr id="18" name="TextBox 17"/>
          <p:cNvSpPr txBox="1"/>
          <p:nvPr/>
        </p:nvSpPr>
        <p:spPr>
          <a:xfrm>
            <a:off x="621792" y="4334256"/>
            <a:ext cx="2926080" cy="320040"/>
          </a:xfrm>
          <a:prstGeom prst="rect">
            <a:avLst/>
          </a:prstGeom>
          <a:noFill/>
        </p:spPr>
        <p:txBody>
          <a:bodyPr wrap="square" lIns="27432" tIns="0" rIns="27432" bIns="0" anchor="ctr">
            <a:spAutoFit/>
          </a:bodyPr>
          <a:lstStyle/>
          <a:p>
            <a:pPr algn="l">
              <a:lnSpc>
                <a:spcPct val="113000"/>
              </a:lnSpc>
              <a:spcAft>
                <a:spcPts val="0"/>
              </a:spcAft>
            </a:pPr>
            <a:r>
              <a:rPr sz="1500" b="1">
                <a:solidFill>
                  <a:srgbClr val="3B7562"/>
                </a:solidFill>
                <a:latin typeface="NanumSquare"/>
              </a:rPr>
              <a:t>문제 정의</a:t>
            </a:r>
          </a:p>
        </p:txBody>
      </p:sp>
      <p:sp>
        <p:nvSpPr>
          <p:cNvPr id="19" name="Rounded Rectangle 18"/>
          <p:cNvSpPr/>
          <p:nvPr/>
        </p:nvSpPr>
        <p:spPr>
          <a:xfrm>
            <a:off x="594360" y="4727448"/>
            <a:ext cx="11000232" cy="1051560"/>
          </a:xfrm>
          <a:prstGeom prst="roundRect">
            <a:avLst>
              <a:gd name="adj" fmla="val 9000"/>
            </a:avLst>
          </a:prstGeom>
          <a:solidFill>
            <a:srgbClr val="EFF4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822960" y="4989945"/>
            <a:ext cx="10497312" cy="553998"/>
          </a:xfrm>
          <a:prstGeom prst="rect">
            <a:avLst/>
          </a:prstGeom>
          <a:noFill/>
        </p:spPr>
        <p:txBody>
          <a:bodyPr wrap="square" lIns="27432" tIns="0" rIns="27432" bIns="0" anchor="ctr">
            <a:spAutoFit/>
          </a:bodyPr>
          <a:lstStyle/>
          <a:p>
            <a:r>
              <a:rPr lang="ko-KR" altLang="ko-KR" b="1" dirty="0"/>
              <a:t>투자정보가 부족하다는 것이 아니라, 여러 근거를 비교해 포트폴리오 결정으로 연결하기 어렵고,</a:t>
            </a:r>
            <a:endParaRPr lang="en-US" altLang="ko-KR" b="1" dirty="0"/>
          </a:p>
          <a:p>
            <a:r>
              <a:rPr lang="ko-KR" altLang="ko-KR" b="1" dirty="0"/>
              <a:t>그 결정 이유를 확인하기도 어렵다</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57784" y="320040"/>
            <a:ext cx="10561320" cy="676656"/>
          </a:xfrm>
          <a:prstGeom prst="rect">
            <a:avLst/>
          </a:prstGeom>
          <a:noFill/>
        </p:spPr>
        <p:txBody>
          <a:bodyPr wrap="square" lIns="27432" tIns="0" rIns="27432" bIns="0" anchor="ctr">
            <a:spAutoFit/>
          </a:bodyPr>
          <a:lstStyle/>
          <a:p>
            <a:pPr algn="l">
              <a:lnSpc>
                <a:spcPct val="113000"/>
              </a:lnSpc>
              <a:spcAft>
                <a:spcPts val="0"/>
              </a:spcAft>
            </a:pPr>
            <a:r>
              <a:rPr sz="3000" b="1">
                <a:solidFill>
                  <a:srgbClr val="203B2C"/>
                </a:solidFill>
                <a:latin typeface="NanumSquare"/>
              </a:rPr>
              <a:t>온톨로지: 관찰한 행동에서 근거 추적으로</a:t>
            </a:r>
          </a:p>
        </p:txBody>
      </p:sp>
      <p:sp>
        <p:nvSpPr>
          <p:cNvPr id="3" name="TextBox 2"/>
          <p:cNvSpPr txBox="1"/>
          <p:nvPr/>
        </p:nvSpPr>
        <p:spPr>
          <a:xfrm>
            <a:off x="594360" y="987552"/>
            <a:ext cx="10561320" cy="384048"/>
          </a:xfrm>
          <a:prstGeom prst="rect">
            <a:avLst/>
          </a:prstGeom>
          <a:noFill/>
        </p:spPr>
        <p:txBody>
          <a:bodyPr wrap="square" lIns="27432" tIns="0" rIns="27432" bIns="0" anchor="ctr">
            <a:spAutoFit/>
          </a:bodyPr>
          <a:lstStyle/>
          <a:p>
            <a:pPr algn="l">
              <a:lnSpc>
                <a:spcPct val="113000"/>
              </a:lnSpc>
              <a:spcAft>
                <a:spcPts val="0"/>
              </a:spcAft>
            </a:pPr>
            <a:r>
              <a:rPr sz="1300" b="0">
                <a:solidFill>
                  <a:srgbClr val="64766A"/>
                </a:solidFill>
                <a:latin typeface="NanumSquare"/>
              </a:rPr>
              <a:t>개체와 행동을 구분하고, 행동의 속성과 출처를 기록</a:t>
            </a:r>
          </a:p>
        </p:txBody>
      </p:sp>
      <p:cxnSp>
        <p:nvCxnSpPr>
          <p:cNvPr id="4" name="Connector 3"/>
          <p:cNvCxnSpPr/>
          <p:nvPr/>
        </p:nvCxnSpPr>
        <p:spPr>
          <a:xfrm>
            <a:off x="594360" y="1426464"/>
            <a:ext cx="11000232" cy="0"/>
          </a:xfrm>
          <a:prstGeom prst="line">
            <a:avLst/>
          </a:prstGeom>
          <a:ln w="12700">
            <a:solidFill>
              <a:srgbClr val="DCE6DD"/>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85216" y="6373368"/>
            <a:ext cx="5486400" cy="192024"/>
          </a:xfrm>
          <a:prstGeom prst="rect">
            <a:avLst/>
          </a:prstGeom>
          <a:noFill/>
        </p:spPr>
        <p:txBody>
          <a:bodyPr wrap="square" lIns="27432" tIns="0" rIns="27432" bIns="0" anchor="ctr">
            <a:spAutoFit/>
          </a:bodyPr>
          <a:lstStyle/>
          <a:p>
            <a:pPr algn="l">
              <a:lnSpc>
                <a:spcPct val="113000"/>
              </a:lnSpc>
              <a:spcAft>
                <a:spcPts val="0"/>
              </a:spcAft>
            </a:pPr>
            <a:r>
              <a:rPr sz="1000" b="0">
                <a:solidFill>
                  <a:srgbClr val="64766A"/>
                </a:solidFill>
                <a:latin typeface="NanumSquare"/>
              </a:rPr>
              <a:t>개미구조대  ·  AI 캡스톤 디자인</a:t>
            </a:r>
          </a:p>
        </p:txBody>
      </p:sp>
      <p:sp>
        <p:nvSpPr>
          <p:cNvPr id="6" name="TextBox 5"/>
          <p:cNvSpPr txBox="1"/>
          <p:nvPr/>
        </p:nvSpPr>
        <p:spPr>
          <a:xfrm>
            <a:off x="11109960" y="6364224"/>
            <a:ext cx="457200" cy="219456"/>
          </a:xfrm>
          <a:prstGeom prst="rect">
            <a:avLst/>
          </a:prstGeom>
          <a:noFill/>
        </p:spPr>
        <p:txBody>
          <a:bodyPr wrap="square" lIns="27432" tIns="0" rIns="27432" bIns="0" anchor="ctr">
            <a:spAutoFit/>
          </a:bodyPr>
          <a:lstStyle/>
          <a:p>
            <a:pPr algn="r">
              <a:lnSpc>
                <a:spcPct val="113000"/>
              </a:lnSpc>
              <a:spcAft>
                <a:spcPts val="0"/>
              </a:spcAft>
            </a:pPr>
            <a:r>
              <a:rPr sz="1100" b="0">
                <a:solidFill>
                  <a:srgbClr val="64766A"/>
                </a:solidFill>
                <a:latin typeface="NanumSquare"/>
              </a:rPr>
              <a:t>4</a:t>
            </a:r>
          </a:p>
        </p:txBody>
      </p:sp>
      <p:sp>
        <p:nvSpPr>
          <p:cNvPr id="7" name="TextBox 6"/>
          <p:cNvSpPr txBox="1"/>
          <p:nvPr/>
        </p:nvSpPr>
        <p:spPr>
          <a:xfrm>
            <a:off x="603504" y="1673352"/>
            <a:ext cx="5394960" cy="320040"/>
          </a:xfrm>
          <a:prstGeom prst="rect">
            <a:avLst/>
          </a:prstGeom>
          <a:noFill/>
        </p:spPr>
        <p:txBody>
          <a:bodyPr wrap="square" lIns="27432" tIns="0" rIns="27432" bIns="0" anchor="ctr">
            <a:spAutoFit/>
          </a:bodyPr>
          <a:lstStyle/>
          <a:p>
            <a:pPr algn="l">
              <a:lnSpc>
                <a:spcPct val="113000"/>
              </a:lnSpc>
              <a:spcAft>
                <a:spcPts val="0"/>
              </a:spcAft>
            </a:pPr>
            <a:r>
              <a:rPr sz="1600" b="1">
                <a:solidFill>
                  <a:srgbClr val="3B7562"/>
                </a:solidFill>
                <a:latin typeface="NanumSquare"/>
              </a:rPr>
              <a:t>설문에서 관찰한 관계</a:t>
            </a:r>
          </a:p>
        </p:txBody>
      </p:sp>
      <p:sp>
        <p:nvSpPr>
          <p:cNvPr id="8" name="Rounded Rectangle 7"/>
          <p:cNvSpPr/>
          <p:nvPr/>
        </p:nvSpPr>
        <p:spPr>
          <a:xfrm>
            <a:off x="603504" y="2084831"/>
            <a:ext cx="2011680" cy="960120"/>
          </a:xfrm>
          <a:prstGeom prst="roundRect">
            <a:avLst>
              <a:gd name="adj" fmla="val 9000"/>
            </a:avLst>
          </a:prstGeom>
          <a:solidFill>
            <a:srgbClr val="EFF4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76656" y="2148840"/>
            <a:ext cx="1865376" cy="841248"/>
          </a:xfrm>
          <a:prstGeom prst="rect">
            <a:avLst/>
          </a:prstGeom>
          <a:noFill/>
        </p:spPr>
        <p:txBody>
          <a:bodyPr wrap="square" lIns="27432" tIns="0" rIns="27432" bIns="0" anchor="ctr">
            <a:spAutoFit/>
          </a:bodyPr>
          <a:lstStyle/>
          <a:p>
            <a:pPr algn="ctr">
              <a:lnSpc>
                <a:spcPct val="113000"/>
              </a:lnSpc>
              <a:spcAft>
                <a:spcPts val="0"/>
              </a:spcAft>
            </a:pPr>
            <a:r>
              <a:rPr sz="1700" b="1">
                <a:solidFill>
                  <a:srgbClr val="203B2C"/>
                </a:solidFill>
                <a:latin typeface="NanumSquare"/>
              </a:rPr>
              <a:t>조언 채널</a:t>
            </a:r>
          </a:p>
          <a:p>
            <a:pPr algn="ctr">
              <a:lnSpc>
                <a:spcPct val="113000"/>
              </a:lnSpc>
              <a:spcAft>
                <a:spcPts val="0"/>
              </a:spcAft>
            </a:pPr>
            <a:r>
              <a:rPr sz="1700" b="1">
                <a:solidFill>
                  <a:srgbClr val="203B2C"/>
                </a:solidFill>
                <a:latin typeface="NanumSquare"/>
              </a:rPr>
              <a:t>지인</a:t>
            </a:r>
          </a:p>
        </p:txBody>
      </p:sp>
      <p:sp>
        <p:nvSpPr>
          <p:cNvPr id="10" name="Rounded Rectangle 9"/>
          <p:cNvSpPr/>
          <p:nvPr/>
        </p:nvSpPr>
        <p:spPr>
          <a:xfrm>
            <a:off x="3858768" y="2084831"/>
            <a:ext cx="2240280" cy="960120"/>
          </a:xfrm>
          <a:prstGeom prst="roundRect">
            <a:avLst>
              <a:gd name="adj" fmla="val 9000"/>
            </a:avLst>
          </a:prstGeom>
          <a:solidFill>
            <a:srgbClr val="1D3B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3931920" y="2148840"/>
            <a:ext cx="2093976" cy="841248"/>
          </a:xfrm>
          <a:prstGeom prst="rect">
            <a:avLst/>
          </a:prstGeom>
          <a:noFill/>
        </p:spPr>
        <p:txBody>
          <a:bodyPr wrap="square" lIns="27432" tIns="0" rIns="27432" bIns="0" anchor="ctr">
            <a:spAutoFit/>
          </a:bodyPr>
          <a:lstStyle/>
          <a:p>
            <a:pPr algn="ctr">
              <a:lnSpc>
                <a:spcPct val="113000"/>
              </a:lnSpc>
              <a:spcAft>
                <a:spcPts val="0"/>
              </a:spcAft>
            </a:pPr>
            <a:r>
              <a:rPr sz="1700" b="1">
                <a:solidFill>
                  <a:srgbClr val="FFFFFF"/>
                </a:solidFill>
                <a:latin typeface="NanumSquare"/>
              </a:rPr>
              <a:t>자산배분 제안</a:t>
            </a:r>
          </a:p>
        </p:txBody>
      </p:sp>
      <p:sp>
        <p:nvSpPr>
          <p:cNvPr id="12" name="Rounded Rectangle 11"/>
          <p:cNvSpPr/>
          <p:nvPr/>
        </p:nvSpPr>
        <p:spPr>
          <a:xfrm>
            <a:off x="7360920" y="2084831"/>
            <a:ext cx="1920240" cy="960120"/>
          </a:xfrm>
          <a:prstGeom prst="roundRect">
            <a:avLst>
              <a:gd name="adj" fmla="val 9000"/>
            </a:avLst>
          </a:prstGeom>
          <a:solidFill>
            <a:srgbClr val="EFF4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7434072" y="2148840"/>
            <a:ext cx="1773936" cy="841248"/>
          </a:xfrm>
          <a:prstGeom prst="rect">
            <a:avLst/>
          </a:prstGeom>
          <a:noFill/>
        </p:spPr>
        <p:txBody>
          <a:bodyPr wrap="square" lIns="27432" tIns="0" rIns="27432" bIns="0" anchor="ctr">
            <a:spAutoFit/>
          </a:bodyPr>
          <a:lstStyle/>
          <a:p>
            <a:pPr algn="ctr">
              <a:lnSpc>
                <a:spcPct val="113000"/>
              </a:lnSpc>
              <a:spcAft>
                <a:spcPts val="0"/>
              </a:spcAft>
            </a:pPr>
            <a:r>
              <a:rPr sz="1700" b="1">
                <a:solidFill>
                  <a:srgbClr val="203B2C"/>
                </a:solidFill>
                <a:latin typeface="NanumSquare"/>
              </a:rPr>
              <a:t>투자자</a:t>
            </a:r>
          </a:p>
          <a:p>
            <a:pPr algn="ctr">
              <a:lnSpc>
                <a:spcPct val="113000"/>
              </a:lnSpc>
              <a:spcAft>
                <a:spcPts val="0"/>
              </a:spcAft>
            </a:pPr>
            <a:r>
              <a:rPr sz="1700" b="1">
                <a:solidFill>
                  <a:srgbClr val="203B2C"/>
                </a:solidFill>
                <a:latin typeface="NanumSquare"/>
              </a:rPr>
              <a:t>R3</a:t>
            </a:r>
          </a:p>
        </p:txBody>
      </p:sp>
      <p:cxnSp>
        <p:nvCxnSpPr>
          <p:cNvPr id="14" name="Connector 13"/>
          <p:cNvCxnSpPr/>
          <p:nvPr/>
        </p:nvCxnSpPr>
        <p:spPr>
          <a:xfrm>
            <a:off x="2724912" y="2560320"/>
            <a:ext cx="1042416" cy="0"/>
          </a:xfrm>
          <a:prstGeom prst="line">
            <a:avLst/>
          </a:prstGeom>
          <a:ln w="25400">
            <a:solidFill>
              <a:srgbClr val="3B7562"/>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6172200" y="2560320"/>
            <a:ext cx="1088136" cy="0"/>
          </a:xfrm>
          <a:prstGeom prst="line">
            <a:avLst/>
          </a:prstGeom>
          <a:ln w="25400">
            <a:solidFill>
              <a:srgbClr val="3B7562"/>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2999232" y="2185416"/>
            <a:ext cx="530352" cy="219456"/>
          </a:xfrm>
          <a:prstGeom prst="rect">
            <a:avLst/>
          </a:prstGeom>
          <a:noFill/>
        </p:spPr>
        <p:txBody>
          <a:bodyPr wrap="square" lIns="27432" tIns="0" rIns="27432" bIns="0" anchor="ctr">
            <a:spAutoFit/>
          </a:bodyPr>
          <a:lstStyle/>
          <a:p>
            <a:pPr algn="ctr">
              <a:lnSpc>
                <a:spcPct val="113000"/>
              </a:lnSpc>
              <a:spcAft>
                <a:spcPts val="0"/>
              </a:spcAft>
            </a:pPr>
            <a:r>
              <a:rPr sz="1100" b="0">
                <a:solidFill>
                  <a:srgbClr val="64766A"/>
                </a:solidFill>
                <a:latin typeface="NanumSquare"/>
              </a:rPr>
              <a:t>제공</a:t>
            </a:r>
          </a:p>
        </p:txBody>
      </p:sp>
      <p:sp>
        <p:nvSpPr>
          <p:cNvPr id="17" name="TextBox 16"/>
          <p:cNvSpPr txBox="1"/>
          <p:nvPr/>
        </p:nvSpPr>
        <p:spPr>
          <a:xfrm>
            <a:off x="6492240" y="2185416"/>
            <a:ext cx="530352" cy="219456"/>
          </a:xfrm>
          <a:prstGeom prst="rect">
            <a:avLst/>
          </a:prstGeom>
          <a:noFill/>
        </p:spPr>
        <p:txBody>
          <a:bodyPr wrap="square" lIns="27432" tIns="0" rIns="27432" bIns="0" anchor="ctr">
            <a:spAutoFit/>
          </a:bodyPr>
          <a:lstStyle/>
          <a:p>
            <a:pPr algn="ctr">
              <a:lnSpc>
                <a:spcPct val="113000"/>
              </a:lnSpc>
              <a:spcAft>
                <a:spcPts val="0"/>
              </a:spcAft>
            </a:pPr>
            <a:r>
              <a:rPr sz="1100" b="0">
                <a:solidFill>
                  <a:srgbClr val="64766A"/>
                </a:solidFill>
                <a:latin typeface="NanumSquare"/>
              </a:rPr>
              <a:t>받음</a:t>
            </a:r>
          </a:p>
        </p:txBody>
      </p:sp>
      <p:sp>
        <p:nvSpPr>
          <p:cNvPr id="18" name="Rounded Rectangle 17"/>
          <p:cNvSpPr/>
          <p:nvPr/>
        </p:nvSpPr>
        <p:spPr>
          <a:xfrm>
            <a:off x="9500616" y="1874519"/>
            <a:ext cx="2039112" cy="1380744"/>
          </a:xfrm>
          <a:prstGeom prst="roundRect">
            <a:avLst>
              <a:gd name="adj" fmla="val 9000"/>
            </a:avLst>
          </a:prstGeom>
          <a:solidFill>
            <a:srgbClr val="FFF6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9637776" y="2011680"/>
            <a:ext cx="1764792" cy="265176"/>
          </a:xfrm>
          <a:prstGeom prst="rect">
            <a:avLst/>
          </a:prstGeom>
          <a:noFill/>
        </p:spPr>
        <p:txBody>
          <a:bodyPr wrap="square" lIns="27432" tIns="0" rIns="27432" bIns="0" anchor="ctr">
            <a:spAutoFit/>
          </a:bodyPr>
          <a:lstStyle/>
          <a:p>
            <a:pPr algn="l">
              <a:lnSpc>
                <a:spcPct val="113000"/>
              </a:lnSpc>
              <a:spcAft>
                <a:spcPts val="0"/>
              </a:spcAft>
            </a:pPr>
            <a:r>
              <a:rPr sz="1300" b="1">
                <a:solidFill>
                  <a:srgbClr val="C98F30"/>
                </a:solidFill>
                <a:latin typeface="NanumSquare"/>
              </a:rPr>
              <a:t>행동 개체 · 속성</a:t>
            </a:r>
          </a:p>
        </p:txBody>
      </p:sp>
      <p:sp>
        <p:nvSpPr>
          <p:cNvPr id="20" name="TextBox 19"/>
          <p:cNvSpPr txBox="1"/>
          <p:nvPr/>
        </p:nvSpPr>
        <p:spPr>
          <a:xfrm>
            <a:off x="9619488" y="2359152"/>
            <a:ext cx="1810512" cy="640080"/>
          </a:xfrm>
          <a:prstGeom prst="rect">
            <a:avLst/>
          </a:prstGeom>
          <a:noFill/>
        </p:spPr>
        <p:txBody>
          <a:bodyPr wrap="square" lIns="27432" tIns="0" rIns="27432" bIns="0" anchor="ctr">
            <a:spAutoFit/>
          </a:bodyPr>
          <a:lstStyle/>
          <a:p>
            <a:pPr algn="l">
              <a:lnSpc>
                <a:spcPct val="113000"/>
              </a:lnSpc>
              <a:spcAft>
                <a:spcPts val="0"/>
              </a:spcAft>
            </a:pPr>
            <a:r>
              <a:rPr sz="1200" b="0">
                <a:solidFill>
                  <a:srgbClr val="203B2C"/>
                </a:solidFill>
                <a:latin typeface="NanumSquare"/>
              </a:rPr>
              <a:t>실행 행동: 일부</a:t>
            </a:r>
          </a:p>
          <a:p>
            <a:pPr algn="l">
              <a:lnSpc>
                <a:spcPct val="113000"/>
              </a:lnSpc>
              <a:spcAft>
                <a:spcPts val="0"/>
              </a:spcAft>
            </a:pPr>
            <a:r>
              <a:rPr sz="1200" b="0">
                <a:solidFill>
                  <a:srgbClr val="203B2C"/>
                </a:solidFill>
                <a:latin typeface="NanumSquare"/>
              </a:rPr>
              <a:t>교차확인 행동: 며칠</a:t>
            </a:r>
          </a:p>
        </p:txBody>
      </p:sp>
      <p:cxnSp>
        <p:nvCxnSpPr>
          <p:cNvPr id="21" name="Connector 20"/>
          <p:cNvCxnSpPr/>
          <p:nvPr/>
        </p:nvCxnSpPr>
        <p:spPr>
          <a:xfrm>
            <a:off x="9363456" y="2569464"/>
            <a:ext cx="91440" cy="0"/>
          </a:xfrm>
          <a:prstGeom prst="line">
            <a:avLst/>
          </a:prstGeom>
          <a:ln w="16510">
            <a:solidFill>
              <a:srgbClr val="3B7562"/>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621792" y="3465576"/>
            <a:ext cx="10936224" cy="0"/>
          </a:xfrm>
          <a:prstGeom prst="line">
            <a:avLst/>
          </a:prstGeom>
          <a:ln w="12700">
            <a:solidFill>
              <a:srgbClr val="DCE6DD"/>
            </a:solidFill>
          </a:ln>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603504" y="3675887"/>
            <a:ext cx="5852160" cy="329184"/>
          </a:xfrm>
          <a:prstGeom prst="rect">
            <a:avLst/>
          </a:prstGeom>
          <a:noFill/>
        </p:spPr>
        <p:txBody>
          <a:bodyPr wrap="square" lIns="27432" tIns="0" rIns="27432" bIns="0" anchor="ctr">
            <a:spAutoFit/>
          </a:bodyPr>
          <a:lstStyle/>
          <a:p>
            <a:pPr algn="l">
              <a:lnSpc>
                <a:spcPct val="113000"/>
              </a:lnSpc>
              <a:spcAft>
                <a:spcPts val="0"/>
              </a:spcAft>
            </a:pPr>
            <a:r>
              <a:rPr sz="1600" b="1">
                <a:solidFill>
                  <a:srgbClr val="3B7562"/>
                </a:solidFill>
                <a:latin typeface="NanumSquare"/>
              </a:rPr>
              <a:t>서비스에서 확장할 관계</a:t>
            </a:r>
          </a:p>
        </p:txBody>
      </p:sp>
      <p:sp>
        <p:nvSpPr>
          <p:cNvPr id="24" name="Rounded Rectangle 23"/>
          <p:cNvSpPr/>
          <p:nvPr/>
        </p:nvSpPr>
        <p:spPr>
          <a:xfrm>
            <a:off x="603504" y="4187952"/>
            <a:ext cx="3108960" cy="1069848"/>
          </a:xfrm>
          <a:prstGeom prst="roundRect">
            <a:avLst>
              <a:gd name="adj" fmla="val 9000"/>
            </a:avLst>
          </a:prstGeom>
          <a:solidFill>
            <a:srgbClr val="F7F9F7"/>
          </a:solidFill>
          <a:ln w="10160">
            <a:solidFill>
              <a:srgbClr val="DCE6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731520" y="4334256"/>
            <a:ext cx="2852928" cy="365760"/>
          </a:xfrm>
          <a:prstGeom prst="rect">
            <a:avLst/>
          </a:prstGeom>
          <a:noFill/>
        </p:spPr>
        <p:txBody>
          <a:bodyPr wrap="square" lIns="27432" tIns="0" rIns="27432" bIns="0" anchor="ctr">
            <a:spAutoFit/>
          </a:bodyPr>
          <a:lstStyle/>
          <a:p>
            <a:pPr algn="ctr">
              <a:lnSpc>
                <a:spcPct val="113000"/>
              </a:lnSpc>
              <a:spcAft>
                <a:spcPts val="0"/>
              </a:spcAft>
            </a:pPr>
            <a:r>
              <a:rPr sz="1700" b="1" dirty="0" err="1">
                <a:solidFill>
                  <a:srgbClr val="203B2C"/>
                </a:solidFill>
                <a:latin typeface="NanumSquare"/>
              </a:rPr>
              <a:t>증권사</a:t>
            </a:r>
            <a:r>
              <a:rPr sz="1700" b="1" dirty="0">
                <a:solidFill>
                  <a:srgbClr val="203B2C"/>
                </a:solidFill>
                <a:latin typeface="NanumSquare"/>
              </a:rPr>
              <a:t> </a:t>
            </a:r>
            <a:r>
              <a:rPr sz="1700" b="1" dirty="0" err="1">
                <a:solidFill>
                  <a:srgbClr val="203B2C"/>
                </a:solidFill>
                <a:latin typeface="NanumSquare"/>
              </a:rPr>
              <a:t>리포트</a:t>
            </a:r>
            <a:endParaRPr sz="1700" b="1" dirty="0">
              <a:solidFill>
                <a:srgbClr val="203B2C"/>
              </a:solidFill>
              <a:latin typeface="NanumSquare"/>
            </a:endParaRPr>
          </a:p>
        </p:txBody>
      </p:sp>
      <p:sp>
        <p:nvSpPr>
          <p:cNvPr id="26" name="TextBox 25"/>
          <p:cNvSpPr txBox="1"/>
          <p:nvPr/>
        </p:nvSpPr>
        <p:spPr>
          <a:xfrm>
            <a:off x="731520" y="4745736"/>
            <a:ext cx="2852928" cy="274320"/>
          </a:xfrm>
          <a:prstGeom prst="rect">
            <a:avLst/>
          </a:prstGeom>
          <a:noFill/>
        </p:spPr>
        <p:txBody>
          <a:bodyPr wrap="square" lIns="27432" tIns="0" rIns="27432" bIns="0" anchor="ctr">
            <a:spAutoFit/>
          </a:bodyPr>
          <a:lstStyle/>
          <a:p>
            <a:pPr algn="ctr">
              <a:lnSpc>
                <a:spcPct val="113000"/>
              </a:lnSpc>
              <a:spcAft>
                <a:spcPts val="0"/>
              </a:spcAft>
            </a:pPr>
            <a:r>
              <a:rPr sz="1200" b="0">
                <a:solidFill>
                  <a:srgbClr val="64766A"/>
                </a:solidFill>
                <a:latin typeface="NanumSquare"/>
              </a:rPr>
              <a:t>출처 · 공개시각</a:t>
            </a:r>
          </a:p>
        </p:txBody>
      </p:sp>
      <p:sp>
        <p:nvSpPr>
          <p:cNvPr id="27" name="Rounded Rectangle 26"/>
          <p:cNvSpPr/>
          <p:nvPr/>
        </p:nvSpPr>
        <p:spPr>
          <a:xfrm>
            <a:off x="4526280" y="4187952"/>
            <a:ext cx="3108960" cy="1069848"/>
          </a:xfrm>
          <a:prstGeom prst="roundRect">
            <a:avLst>
              <a:gd name="adj" fmla="val 9000"/>
            </a:avLst>
          </a:prstGeom>
          <a:solidFill>
            <a:srgbClr val="F7F9F7"/>
          </a:solidFill>
          <a:ln w="10160">
            <a:solidFill>
              <a:srgbClr val="DCE6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4654296" y="4334256"/>
            <a:ext cx="2852928" cy="365760"/>
          </a:xfrm>
          <a:prstGeom prst="rect">
            <a:avLst/>
          </a:prstGeom>
          <a:noFill/>
        </p:spPr>
        <p:txBody>
          <a:bodyPr wrap="square" lIns="27432" tIns="0" rIns="27432" bIns="0" anchor="ctr">
            <a:spAutoFit/>
          </a:bodyPr>
          <a:lstStyle/>
          <a:p>
            <a:pPr algn="ctr">
              <a:lnSpc>
                <a:spcPct val="113000"/>
              </a:lnSpc>
              <a:spcAft>
                <a:spcPts val="0"/>
              </a:spcAft>
            </a:pPr>
            <a:r>
              <a:rPr sz="1700" b="1">
                <a:solidFill>
                  <a:srgbClr val="203B2C"/>
                </a:solidFill>
                <a:latin typeface="NanumSquare"/>
              </a:rPr>
              <a:t>모델 전망 · 최적화</a:t>
            </a:r>
          </a:p>
        </p:txBody>
      </p:sp>
      <p:sp>
        <p:nvSpPr>
          <p:cNvPr id="29" name="TextBox 28"/>
          <p:cNvSpPr txBox="1"/>
          <p:nvPr/>
        </p:nvSpPr>
        <p:spPr>
          <a:xfrm>
            <a:off x="4654296" y="4745736"/>
            <a:ext cx="2852928" cy="274320"/>
          </a:xfrm>
          <a:prstGeom prst="rect">
            <a:avLst/>
          </a:prstGeom>
          <a:noFill/>
        </p:spPr>
        <p:txBody>
          <a:bodyPr wrap="square" lIns="27432" tIns="0" rIns="27432" bIns="0" anchor="ctr">
            <a:spAutoFit/>
          </a:bodyPr>
          <a:lstStyle/>
          <a:p>
            <a:pPr algn="ctr">
              <a:lnSpc>
                <a:spcPct val="113000"/>
              </a:lnSpc>
              <a:spcAft>
                <a:spcPts val="0"/>
              </a:spcAft>
            </a:pPr>
            <a:r>
              <a:rPr sz="1200" b="0">
                <a:solidFill>
                  <a:srgbClr val="64766A"/>
                </a:solidFill>
                <a:latin typeface="NanumSquare"/>
              </a:rPr>
              <a:t>기준시점 · 비중 · 제약</a:t>
            </a:r>
          </a:p>
        </p:txBody>
      </p:sp>
      <p:sp>
        <p:nvSpPr>
          <p:cNvPr id="30" name="Rounded Rectangle 29"/>
          <p:cNvSpPr/>
          <p:nvPr/>
        </p:nvSpPr>
        <p:spPr>
          <a:xfrm>
            <a:off x="8439912" y="4187952"/>
            <a:ext cx="3108960" cy="1069848"/>
          </a:xfrm>
          <a:prstGeom prst="roundRect">
            <a:avLst>
              <a:gd name="adj" fmla="val 9000"/>
            </a:avLst>
          </a:prstGeom>
          <a:solidFill>
            <a:srgbClr val="F7F9F7"/>
          </a:solidFill>
          <a:ln w="10160">
            <a:solidFill>
              <a:srgbClr val="DCE6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8567928" y="4378540"/>
            <a:ext cx="2852928" cy="277192"/>
          </a:xfrm>
          <a:prstGeom prst="rect">
            <a:avLst/>
          </a:prstGeom>
          <a:noFill/>
        </p:spPr>
        <p:txBody>
          <a:bodyPr wrap="square" lIns="27432" tIns="0" rIns="27432" bIns="0" anchor="ctr">
            <a:spAutoFit/>
          </a:bodyPr>
          <a:lstStyle/>
          <a:p>
            <a:pPr algn="ctr">
              <a:lnSpc>
                <a:spcPct val="113000"/>
              </a:lnSpc>
              <a:spcAft>
                <a:spcPts val="0"/>
              </a:spcAft>
            </a:pPr>
            <a:r>
              <a:rPr sz="1700" b="1" dirty="0" err="1">
                <a:solidFill>
                  <a:srgbClr val="203B2C"/>
                </a:solidFill>
                <a:latin typeface="NanumSquare"/>
              </a:rPr>
              <a:t>설명</a:t>
            </a:r>
            <a:r>
              <a:rPr sz="1700" b="1" dirty="0">
                <a:solidFill>
                  <a:srgbClr val="203B2C"/>
                </a:solidFill>
                <a:latin typeface="NanumSquare"/>
              </a:rPr>
              <a:t> </a:t>
            </a:r>
            <a:r>
              <a:rPr sz="1700" b="1" dirty="0" err="1">
                <a:solidFill>
                  <a:srgbClr val="203B2C"/>
                </a:solidFill>
                <a:latin typeface="NanumSquare"/>
              </a:rPr>
              <a:t>주장</a:t>
            </a:r>
            <a:endParaRPr sz="1700" b="1" dirty="0">
              <a:solidFill>
                <a:srgbClr val="203B2C"/>
              </a:solidFill>
              <a:latin typeface="NanumSquare"/>
            </a:endParaRPr>
          </a:p>
        </p:txBody>
      </p:sp>
      <p:sp>
        <p:nvSpPr>
          <p:cNvPr id="32" name="TextBox 31"/>
          <p:cNvSpPr txBox="1"/>
          <p:nvPr/>
        </p:nvSpPr>
        <p:spPr>
          <a:xfrm>
            <a:off x="8567928" y="4745736"/>
            <a:ext cx="2852928" cy="274320"/>
          </a:xfrm>
          <a:prstGeom prst="rect">
            <a:avLst/>
          </a:prstGeom>
          <a:noFill/>
        </p:spPr>
        <p:txBody>
          <a:bodyPr wrap="square" lIns="27432" tIns="0" rIns="27432" bIns="0" anchor="ctr">
            <a:spAutoFit/>
          </a:bodyPr>
          <a:lstStyle/>
          <a:p>
            <a:pPr algn="ctr">
              <a:lnSpc>
                <a:spcPct val="113000"/>
              </a:lnSpc>
              <a:spcAft>
                <a:spcPts val="0"/>
              </a:spcAft>
            </a:pPr>
            <a:r>
              <a:rPr sz="1200" b="0">
                <a:solidFill>
                  <a:srgbClr val="64766A"/>
                </a:solidFill>
                <a:latin typeface="NanumSquare"/>
              </a:rPr>
              <a:t>근거 ID · 판정 결과</a:t>
            </a:r>
          </a:p>
        </p:txBody>
      </p:sp>
      <p:cxnSp>
        <p:nvCxnSpPr>
          <p:cNvPr id="33" name="Connector 32"/>
          <p:cNvCxnSpPr/>
          <p:nvPr/>
        </p:nvCxnSpPr>
        <p:spPr>
          <a:xfrm>
            <a:off x="3767328" y="4727448"/>
            <a:ext cx="658368" cy="0"/>
          </a:xfrm>
          <a:prstGeom prst="line">
            <a:avLst/>
          </a:prstGeom>
          <a:ln w="25400">
            <a:solidFill>
              <a:srgbClr val="3B7562"/>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7671816" y="4727448"/>
            <a:ext cx="667511" cy="0"/>
          </a:xfrm>
          <a:prstGeom prst="line">
            <a:avLst/>
          </a:prstGeom>
          <a:ln w="25400">
            <a:solidFill>
              <a:srgbClr val="3B7562"/>
            </a:solidFill>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603504" y="5486400"/>
            <a:ext cx="10972800" cy="438912"/>
          </a:xfrm>
          <a:prstGeom prst="roundRect">
            <a:avLst>
              <a:gd name="adj" fmla="val 9000"/>
            </a:avLst>
          </a:prstGeom>
          <a:solidFill>
            <a:srgbClr val="EFF4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804672" y="5541264"/>
            <a:ext cx="10506456" cy="338328"/>
          </a:xfrm>
          <a:prstGeom prst="rect">
            <a:avLst/>
          </a:prstGeom>
          <a:noFill/>
        </p:spPr>
        <p:txBody>
          <a:bodyPr wrap="square" lIns="27432" tIns="0" rIns="27432" bIns="0" anchor="ctr">
            <a:spAutoFit/>
          </a:bodyPr>
          <a:lstStyle/>
          <a:p>
            <a:pPr algn="l">
              <a:lnSpc>
                <a:spcPct val="113000"/>
              </a:lnSpc>
              <a:spcAft>
                <a:spcPts val="0"/>
              </a:spcAft>
            </a:pPr>
            <a:r>
              <a:rPr sz="1300" b="1" dirty="0" err="1">
                <a:solidFill>
                  <a:srgbClr val="3B7562"/>
                </a:solidFill>
                <a:latin typeface="NanumSquare"/>
              </a:rPr>
              <a:t>설문의</a:t>
            </a:r>
            <a:r>
              <a:rPr sz="1300" b="1" dirty="0">
                <a:solidFill>
                  <a:srgbClr val="3B7562"/>
                </a:solidFill>
                <a:latin typeface="NanumSquare"/>
              </a:rPr>
              <a:t> </a:t>
            </a:r>
            <a:r>
              <a:rPr sz="1300" b="1" dirty="0" err="1">
                <a:solidFill>
                  <a:srgbClr val="3B7562"/>
                </a:solidFill>
                <a:latin typeface="NanumSquare"/>
              </a:rPr>
              <a:t>행동·관계는</a:t>
            </a:r>
            <a:r>
              <a:rPr sz="1300" b="1" dirty="0">
                <a:solidFill>
                  <a:srgbClr val="3B7562"/>
                </a:solidFill>
                <a:latin typeface="NanumSquare"/>
              </a:rPr>
              <a:t> </a:t>
            </a:r>
            <a:r>
              <a:rPr sz="1300" b="1" dirty="0" err="1">
                <a:solidFill>
                  <a:srgbClr val="3B7562"/>
                </a:solidFill>
                <a:latin typeface="NanumSquare"/>
              </a:rPr>
              <a:t>관찰</a:t>
            </a:r>
            <a:r>
              <a:rPr sz="1300" b="1" dirty="0">
                <a:solidFill>
                  <a:srgbClr val="3B7562"/>
                </a:solidFill>
                <a:latin typeface="NanumSquare"/>
              </a:rPr>
              <a:t> </a:t>
            </a:r>
            <a:r>
              <a:rPr sz="1300" b="1" dirty="0" err="1">
                <a:solidFill>
                  <a:srgbClr val="3B7562"/>
                </a:solidFill>
                <a:latin typeface="NanumSquare"/>
              </a:rPr>
              <a:t>근거</a:t>
            </a:r>
            <a:r>
              <a:rPr sz="1300" b="1" dirty="0">
                <a:solidFill>
                  <a:srgbClr val="3B7562"/>
                </a:solidFill>
                <a:latin typeface="NanumSquare"/>
              </a:rPr>
              <a:t>  |  </a:t>
            </a:r>
            <a:r>
              <a:rPr sz="1300" b="1" dirty="0" err="1">
                <a:solidFill>
                  <a:srgbClr val="3B7562"/>
                </a:solidFill>
                <a:latin typeface="NanumSquare"/>
              </a:rPr>
              <a:t>리포트·계산·검증</a:t>
            </a:r>
            <a:r>
              <a:rPr sz="1300" b="1" dirty="0">
                <a:solidFill>
                  <a:srgbClr val="3B7562"/>
                </a:solidFill>
                <a:latin typeface="NanumSquare"/>
              </a:rPr>
              <a:t> </a:t>
            </a:r>
            <a:r>
              <a:rPr sz="1300" b="1" dirty="0" err="1">
                <a:solidFill>
                  <a:srgbClr val="3B7562"/>
                </a:solidFill>
                <a:latin typeface="NanumSquare"/>
              </a:rPr>
              <a:t>연결은</a:t>
            </a:r>
            <a:r>
              <a:rPr sz="1300" b="1" dirty="0">
                <a:solidFill>
                  <a:srgbClr val="3B7562"/>
                </a:solidFill>
                <a:latin typeface="NanumSquare"/>
              </a:rPr>
              <a:t> </a:t>
            </a:r>
            <a:r>
              <a:rPr sz="1300" b="1" dirty="0" err="1">
                <a:solidFill>
                  <a:srgbClr val="3B7562"/>
                </a:solidFill>
                <a:latin typeface="NanumSquare"/>
              </a:rPr>
              <a:t>서비스</a:t>
            </a:r>
            <a:r>
              <a:rPr sz="1300" b="1" dirty="0">
                <a:solidFill>
                  <a:srgbClr val="3B7562"/>
                </a:solidFill>
                <a:latin typeface="NanumSquare"/>
              </a:rPr>
              <a:t> </a:t>
            </a:r>
            <a:r>
              <a:rPr sz="1300" b="1" dirty="0" err="1">
                <a:solidFill>
                  <a:srgbClr val="3B7562"/>
                </a:solidFill>
                <a:latin typeface="NanumSquare"/>
              </a:rPr>
              <a:t>설계</a:t>
            </a:r>
            <a:endParaRPr sz="1300" b="1" dirty="0">
              <a:solidFill>
                <a:srgbClr val="3B7562"/>
              </a:solidFill>
              <a:latin typeface="NanumSquare"/>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57784" y="320040"/>
            <a:ext cx="10561320" cy="676656"/>
          </a:xfrm>
          <a:prstGeom prst="rect">
            <a:avLst/>
          </a:prstGeom>
          <a:noFill/>
        </p:spPr>
        <p:txBody>
          <a:bodyPr wrap="square" lIns="27432" tIns="0" rIns="27432" bIns="0" anchor="ctr">
            <a:spAutoFit/>
          </a:bodyPr>
          <a:lstStyle/>
          <a:p>
            <a:pPr algn="l">
              <a:lnSpc>
                <a:spcPct val="113000"/>
              </a:lnSpc>
              <a:spcAft>
                <a:spcPts val="0"/>
              </a:spcAft>
            </a:pPr>
            <a:r>
              <a:rPr sz="3000" b="1">
                <a:solidFill>
                  <a:srgbClr val="203B2C"/>
                </a:solidFill>
                <a:latin typeface="NanumSquare"/>
              </a:rPr>
              <a:t>포트폴리오: 전망 결합 → 제약 기반 최적화</a:t>
            </a:r>
          </a:p>
        </p:txBody>
      </p:sp>
      <p:cxnSp>
        <p:nvCxnSpPr>
          <p:cNvPr id="3" name="Connector 2"/>
          <p:cNvCxnSpPr/>
          <p:nvPr/>
        </p:nvCxnSpPr>
        <p:spPr>
          <a:xfrm>
            <a:off x="594360" y="1188720"/>
            <a:ext cx="11000232" cy="0"/>
          </a:xfrm>
          <a:prstGeom prst="line">
            <a:avLst/>
          </a:prstGeom>
          <a:ln w="12700">
            <a:solidFill>
              <a:srgbClr val="DCE6DD"/>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585216" y="6373368"/>
            <a:ext cx="5486400" cy="192024"/>
          </a:xfrm>
          <a:prstGeom prst="rect">
            <a:avLst/>
          </a:prstGeom>
          <a:noFill/>
        </p:spPr>
        <p:txBody>
          <a:bodyPr wrap="square" lIns="27432" tIns="0" rIns="27432" bIns="0" anchor="ctr">
            <a:spAutoFit/>
          </a:bodyPr>
          <a:lstStyle/>
          <a:p>
            <a:pPr algn="l">
              <a:lnSpc>
                <a:spcPct val="113000"/>
              </a:lnSpc>
              <a:spcAft>
                <a:spcPts val="0"/>
              </a:spcAft>
            </a:pPr>
            <a:r>
              <a:rPr sz="1000" b="0">
                <a:solidFill>
                  <a:srgbClr val="64766A"/>
                </a:solidFill>
                <a:latin typeface="NanumSquare"/>
              </a:rPr>
              <a:t>개미구조대  ·  AI 캡스톤 디자인</a:t>
            </a:r>
          </a:p>
        </p:txBody>
      </p:sp>
      <p:sp>
        <p:nvSpPr>
          <p:cNvPr id="5" name="TextBox 4"/>
          <p:cNvSpPr txBox="1"/>
          <p:nvPr/>
        </p:nvSpPr>
        <p:spPr>
          <a:xfrm>
            <a:off x="11109960" y="6383574"/>
            <a:ext cx="457200" cy="180755"/>
          </a:xfrm>
          <a:prstGeom prst="rect">
            <a:avLst/>
          </a:prstGeom>
          <a:noFill/>
        </p:spPr>
        <p:txBody>
          <a:bodyPr wrap="square" lIns="27432" tIns="0" rIns="27432" bIns="0" anchor="ctr">
            <a:spAutoFit/>
          </a:bodyPr>
          <a:lstStyle/>
          <a:p>
            <a:pPr algn="r">
              <a:lnSpc>
                <a:spcPct val="113000"/>
              </a:lnSpc>
              <a:spcAft>
                <a:spcPts val="0"/>
              </a:spcAft>
            </a:pPr>
            <a:r>
              <a:rPr lang="en-US" sz="1100" b="0" dirty="0">
                <a:solidFill>
                  <a:srgbClr val="64766A"/>
                </a:solidFill>
                <a:latin typeface="NanumSquare"/>
              </a:rPr>
              <a:t>5</a:t>
            </a:r>
            <a:endParaRPr sz="1100" b="0" dirty="0">
              <a:solidFill>
                <a:srgbClr val="64766A"/>
              </a:solidFill>
              <a:latin typeface="NanumSquare"/>
            </a:endParaRPr>
          </a:p>
        </p:txBody>
      </p:sp>
      <p:sp>
        <p:nvSpPr>
          <p:cNvPr id="6" name="Rounded Rectangle 5"/>
          <p:cNvSpPr/>
          <p:nvPr/>
        </p:nvSpPr>
        <p:spPr>
          <a:xfrm>
            <a:off x="603504" y="1554480"/>
            <a:ext cx="5212080" cy="1444752"/>
          </a:xfrm>
          <a:prstGeom prst="roundRect">
            <a:avLst>
              <a:gd name="adj" fmla="val 9000"/>
            </a:avLst>
          </a:prstGeom>
          <a:solidFill>
            <a:srgbClr val="EFF4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22960" y="1746504"/>
            <a:ext cx="4709160" cy="420624"/>
          </a:xfrm>
          <a:prstGeom prst="rect">
            <a:avLst/>
          </a:prstGeom>
          <a:noFill/>
        </p:spPr>
        <p:txBody>
          <a:bodyPr wrap="square" lIns="27432" tIns="0" rIns="27432" bIns="0" anchor="ctr">
            <a:spAutoFit/>
          </a:bodyPr>
          <a:lstStyle/>
          <a:p>
            <a:pPr algn="l">
              <a:lnSpc>
                <a:spcPct val="113000"/>
              </a:lnSpc>
              <a:spcAft>
                <a:spcPts val="0"/>
              </a:spcAft>
            </a:pPr>
            <a:r>
              <a:rPr sz="2000" b="1">
                <a:solidFill>
                  <a:srgbClr val="203B2C"/>
                </a:solidFill>
                <a:latin typeface="NanumSquare"/>
              </a:rPr>
              <a:t>STABLE · 10거래일 미래 경로</a:t>
            </a:r>
          </a:p>
        </p:txBody>
      </p:sp>
      <p:sp>
        <p:nvSpPr>
          <p:cNvPr id="8" name="TextBox 7"/>
          <p:cNvSpPr txBox="1"/>
          <p:nvPr/>
        </p:nvSpPr>
        <p:spPr>
          <a:xfrm>
            <a:off x="822960" y="2322576"/>
            <a:ext cx="4736592" cy="365760"/>
          </a:xfrm>
          <a:prstGeom prst="rect">
            <a:avLst/>
          </a:prstGeom>
          <a:noFill/>
        </p:spPr>
        <p:txBody>
          <a:bodyPr wrap="square" lIns="27432" tIns="0" rIns="27432" bIns="0" anchor="ctr">
            <a:spAutoFit/>
          </a:bodyPr>
          <a:lstStyle/>
          <a:p>
            <a:pPr algn="l">
              <a:lnSpc>
                <a:spcPct val="113000"/>
              </a:lnSpc>
              <a:spcAft>
                <a:spcPts val="0"/>
              </a:spcAft>
            </a:pPr>
            <a:r>
              <a:rPr sz="1500" b="0">
                <a:solidFill>
                  <a:srgbClr val="64766A"/>
                </a:solidFill>
                <a:latin typeface="NanumSquare"/>
              </a:rPr>
              <a:t>기대수익률 · 공분산 · 큰 손실 시나리오</a:t>
            </a:r>
          </a:p>
        </p:txBody>
      </p:sp>
      <p:sp>
        <p:nvSpPr>
          <p:cNvPr id="9" name="Rounded Rectangle 8"/>
          <p:cNvSpPr/>
          <p:nvPr/>
        </p:nvSpPr>
        <p:spPr>
          <a:xfrm>
            <a:off x="6364224" y="1554480"/>
            <a:ext cx="5212080" cy="1444752"/>
          </a:xfrm>
          <a:prstGeom prst="roundRect">
            <a:avLst>
              <a:gd name="adj" fmla="val 9000"/>
            </a:avLst>
          </a:prstGeom>
          <a:solidFill>
            <a:srgbClr val="EFF4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583680" y="1746504"/>
            <a:ext cx="4663440" cy="420624"/>
          </a:xfrm>
          <a:prstGeom prst="rect">
            <a:avLst/>
          </a:prstGeom>
          <a:noFill/>
        </p:spPr>
        <p:txBody>
          <a:bodyPr wrap="square" lIns="27432" tIns="0" rIns="27432" bIns="0" anchor="ctr">
            <a:spAutoFit/>
          </a:bodyPr>
          <a:lstStyle/>
          <a:p>
            <a:pPr algn="l">
              <a:lnSpc>
                <a:spcPct val="113000"/>
              </a:lnSpc>
              <a:spcAft>
                <a:spcPts val="0"/>
              </a:spcAft>
            </a:pPr>
            <a:r>
              <a:rPr sz="2000" b="1">
                <a:solidFill>
                  <a:srgbClr val="203B2C"/>
                </a:solidFill>
                <a:latin typeface="NanumSquare"/>
              </a:rPr>
              <a:t>증권사 리포트</a:t>
            </a:r>
          </a:p>
        </p:txBody>
      </p:sp>
      <p:sp>
        <p:nvSpPr>
          <p:cNvPr id="11" name="TextBox 10"/>
          <p:cNvSpPr txBox="1"/>
          <p:nvPr/>
        </p:nvSpPr>
        <p:spPr>
          <a:xfrm>
            <a:off x="6583680" y="2322576"/>
            <a:ext cx="4690872" cy="365760"/>
          </a:xfrm>
          <a:prstGeom prst="rect">
            <a:avLst/>
          </a:prstGeom>
          <a:noFill/>
        </p:spPr>
        <p:txBody>
          <a:bodyPr wrap="square" lIns="27432" tIns="0" rIns="27432" bIns="0" anchor="ctr">
            <a:spAutoFit/>
          </a:bodyPr>
          <a:lstStyle/>
          <a:p>
            <a:pPr algn="l">
              <a:lnSpc>
                <a:spcPct val="113000"/>
              </a:lnSpc>
              <a:spcAft>
                <a:spcPts val="0"/>
              </a:spcAft>
            </a:pPr>
            <a:r>
              <a:rPr sz="1500" b="0">
                <a:solidFill>
                  <a:srgbClr val="64766A"/>
                </a:solidFill>
                <a:latin typeface="NanumSquare"/>
              </a:rPr>
              <a:t>목표주가·실적 추정치의 변화 / 불확실성</a:t>
            </a:r>
          </a:p>
        </p:txBody>
      </p:sp>
      <p:cxnSp>
        <p:nvCxnSpPr>
          <p:cNvPr id="12" name="Connector 11"/>
          <p:cNvCxnSpPr/>
          <p:nvPr/>
        </p:nvCxnSpPr>
        <p:spPr>
          <a:xfrm>
            <a:off x="3264408" y="3035808"/>
            <a:ext cx="2139696" cy="484632"/>
          </a:xfrm>
          <a:prstGeom prst="line">
            <a:avLst/>
          </a:prstGeom>
          <a:ln w="25400">
            <a:solidFill>
              <a:srgbClr val="3B7562"/>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flipH="1">
            <a:off x="6839712" y="3035808"/>
            <a:ext cx="2057400" cy="484632"/>
          </a:xfrm>
          <a:prstGeom prst="line">
            <a:avLst/>
          </a:prstGeom>
          <a:ln w="25400">
            <a:solidFill>
              <a:srgbClr val="3B7562"/>
            </a:solidFill>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3227832" y="3502152"/>
            <a:ext cx="5705856" cy="557784"/>
          </a:xfrm>
          <a:prstGeom prst="roundRect">
            <a:avLst>
              <a:gd name="adj" fmla="val 9000"/>
            </a:avLst>
          </a:prstGeom>
          <a:solidFill>
            <a:srgbClr val="1D3B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3310128" y="3575304"/>
            <a:ext cx="5522976" cy="384048"/>
          </a:xfrm>
          <a:prstGeom prst="rect">
            <a:avLst/>
          </a:prstGeom>
          <a:noFill/>
        </p:spPr>
        <p:txBody>
          <a:bodyPr wrap="square" lIns="27432" tIns="0" rIns="27432" bIns="0" anchor="ctr">
            <a:spAutoFit/>
          </a:bodyPr>
          <a:lstStyle/>
          <a:p>
            <a:pPr algn="ctr">
              <a:lnSpc>
                <a:spcPct val="113000"/>
              </a:lnSpc>
              <a:spcAft>
                <a:spcPts val="0"/>
              </a:spcAft>
            </a:pPr>
            <a:r>
              <a:rPr sz="1700" b="1" dirty="0" err="1">
                <a:solidFill>
                  <a:srgbClr val="FFFFFF"/>
                </a:solidFill>
                <a:latin typeface="NanumSquare"/>
              </a:rPr>
              <a:t>결합</a:t>
            </a:r>
            <a:r>
              <a:rPr sz="1700" b="1" dirty="0">
                <a:solidFill>
                  <a:srgbClr val="FFFFFF"/>
                </a:solidFill>
                <a:latin typeface="NanumSquare"/>
              </a:rPr>
              <a:t> </a:t>
            </a:r>
            <a:r>
              <a:rPr sz="1700" b="1" dirty="0" err="1">
                <a:solidFill>
                  <a:srgbClr val="FFFFFF"/>
                </a:solidFill>
                <a:latin typeface="NanumSquare"/>
              </a:rPr>
              <a:t>기대수익률</a:t>
            </a:r>
            <a:r>
              <a:rPr sz="1700" b="1" dirty="0">
                <a:solidFill>
                  <a:srgbClr val="FFFFFF"/>
                </a:solidFill>
                <a:latin typeface="NanumSquare"/>
              </a:rPr>
              <a:t> = STABLE </a:t>
            </a:r>
            <a:r>
              <a:rPr sz="1700" b="1" dirty="0" err="1">
                <a:solidFill>
                  <a:srgbClr val="FFFFFF"/>
                </a:solidFill>
                <a:latin typeface="NanumSquare"/>
              </a:rPr>
              <a:t>전망</a:t>
            </a:r>
            <a:r>
              <a:rPr sz="1700" b="1" dirty="0">
                <a:solidFill>
                  <a:srgbClr val="FFFFFF"/>
                </a:solidFill>
                <a:latin typeface="NanumSquare"/>
              </a:rPr>
              <a:t> + </a:t>
            </a:r>
            <a:r>
              <a:rPr sz="1700" b="1" dirty="0" err="1">
                <a:solidFill>
                  <a:srgbClr val="FFFFFF"/>
                </a:solidFill>
                <a:latin typeface="NanumSquare"/>
              </a:rPr>
              <a:t>신뢰도</a:t>
            </a:r>
            <a:r>
              <a:rPr sz="1700" b="1" dirty="0">
                <a:solidFill>
                  <a:srgbClr val="FFFFFF"/>
                </a:solidFill>
                <a:latin typeface="NanumSquare"/>
              </a:rPr>
              <a:t> </a:t>
            </a:r>
            <a:r>
              <a:rPr sz="1700" b="1" dirty="0" err="1">
                <a:solidFill>
                  <a:srgbClr val="FFFFFF"/>
                </a:solidFill>
                <a:latin typeface="NanumSquare"/>
              </a:rPr>
              <a:t>기반</a:t>
            </a:r>
            <a:r>
              <a:rPr sz="1700" b="1" dirty="0">
                <a:solidFill>
                  <a:srgbClr val="FFFFFF"/>
                </a:solidFill>
                <a:latin typeface="NanumSquare"/>
              </a:rPr>
              <a:t> </a:t>
            </a:r>
            <a:r>
              <a:rPr sz="1700" b="1" dirty="0" err="1">
                <a:solidFill>
                  <a:srgbClr val="FFFFFF"/>
                </a:solidFill>
                <a:latin typeface="NanumSquare"/>
              </a:rPr>
              <a:t>보정</a:t>
            </a:r>
            <a:endParaRPr sz="1700" b="1" dirty="0">
              <a:solidFill>
                <a:srgbClr val="FFFFFF"/>
              </a:solidFill>
              <a:latin typeface="NanumSquare"/>
            </a:endParaRPr>
          </a:p>
        </p:txBody>
      </p:sp>
      <p:sp>
        <p:nvSpPr>
          <p:cNvPr id="16" name="Rounded Rectangle 15"/>
          <p:cNvSpPr/>
          <p:nvPr/>
        </p:nvSpPr>
        <p:spPr>
          <a:xfrm>
            <a:off x="603504" y="4306824"/>
            <a:ext cx="10972800" cy="722376"/>
          </a:xfrm>
          <a:prstGeom prst="roundRect">
            <a:avLst>
              <a:gd name="adj" fmla="val 9000"/>
            </a:avLst>
          </a:prstGeom>
          <a:solidFill>
            <a:srgbClr val="F7F9F7"/>
          </a:solidFill>
          <a:ln w="10160">
            <a:solidFill>
              <a:srgbClr val="DCE6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04672" y="4453128"/>
            <a:ext cx="1975104" cy="365760"/>
          </a:xfrm>
          <a:prstGeom prst="rect">
            <a:avLst/>
          </a:prstGeom>
          <a:noFill/>
        </p:spPr>
        <p:txBody>
          <a:bodyPr wrap="square" lIns="27432" tIns="0" rIns="27432" bIns="0" anchor="ctr">
            <a:spAutoFit/>
          </a:bodyPr>
          <a:lstStyle/>
          <a:p>
            <a:pPr algn="l">
              <a:lnSpc>
                <a:spcPct val="113000"/>
              </a:lnSpc>
              <a:spcAft>
                <a:spcPts val="0"/>
              </a:spcAft>
            </a:pPr>
            <a:r>
              <a:rPr sz="1700" b="1">
                <a:solidFill>
                  <a:srgbClr val="3B7562"/>
                </a:solidFill>
                <a:latin typeface="NanumSquare"/>
              </a:rPr>
              <a:t>최적화 목표</a:t>
            </a:r>
          </a:p>
        </p:txBody>
      </p:sp>
      <p:sp>
        <p:nvSpPr>
          <p:cNvPr id="18" name="TextBox 17"/>
          <p:cNvSpPr txBox="1"/>
          <p:nvPr/>
        </p:nvSpPr>
        <p:spPr>
          <a:xfrm>
            <a:off x="2551176" y="4453128"/>
            <a:ext cx="8778240" cy="356616"/>
          </a:xfrm>
          <a:prstGeom prst="rect">
            <a:avLst/>
          </a:prstGeom>
          <a:noFill/>
        </p:spPr>
        <p:txBody>
          <a:bodyPr wrap="square" lIns="27432" tIns="0" rIns="27432" bIns="0" anchor="ctr">
            <a:spAutoFit/>
          </a:bodyPr>
          <a:lstStyle/>
          <a:p>
            <a:pPr algn="l">
              <a:lnSpc>
                <a:spcPct val="113000"/>
              </a:lnSpc>
              <a:spcAft>
                <a:spcPts val="0"/>
              </a:spcAft>
            </a:pPr>
            <a:r>
              <a:rPr sz="1700" b="1">
                <a:solidFill>
                  <a:srgbClr val="203B2C"/>
                </a:solidFill>
                <a:latin typeface="NanumSquare"/>
              </a:rPr>
              <a:t>기대수익 ↑     변동성 · 꼬리손실 · 거래비용 · 과도한 변경 ↓</a:t>
            </a:r>
          </a:p>
        </p:txBody>
      </p:sp>
      <p:sp>
        <p:nvSpPr>
          <p:cNvPr id="19" name="Rounded Rectangle 18"/>
          <p:cNvSpPr/>
          <p:nvPr/>
        </p:nvSpPr>
        <p:spPr>
          <a:xfrm>
            <a:off x="603504" y="5221224"/>
            <a:ext cx="10972800" cy="640080"/>
          </a:xfrm>
          <a:prstGeom prst="roundRect">
            <a:avLst>
              <a:gd name="adj" fmla="val 9000"/>
            </a:avLst>
          </a:prstGeom>
          <a:solidFill>
            <a:srgbClr val="EFF4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813816" y="5330952"/>
            <a:ext cx="1362456" cy="356616"/>
          </a:xfrm>
          <a:prstGeom prst="rect">
            <a:avLst/>
          </a:prstGeom>
          <a:noFill/>
        </p:spPr>
        <p:txBody>
          <a:bodyPr wrap="square" lIns="27432" tIns="0" rIns="27432" bIns="0" anchor="ctr">
            <a:spAutoFit/>
          </a:bodyPr>
          <a:lstStyle/>
          <a:p>
            <a:pPr algn="l">
              <a:lnSpc>
                <a:spcPct val="113000"/>
              </a:lnSpc>
              <a:spcAft>
                <a:spcPts val="0"/>
              </a:spcAft>
            </a:pPr>
            <a:r>
              <a:rPr sz="1600" b="1" dirty="0" err="1">
                <a:solidFill>
                  <a:srgbClr val="3B7562"/>
                </a:solidFill>
                <a:latin typeface="NanumSquare"/>
              </a:rPr>
              <a:t>필수</a:t>
            </a:r>
            <a:r>
              <a:rPr sz="1600" b="1" dirty="0">
                <a:solidFill>
                  <a:srgbClr val="3B7562"/>
                </a:solidFill>
                <a:latin typeface="NanumSquare"/>
              </a:rPr>
              <a:t> </a:t>
            </a:r>
            <a:r>
              <a:rPr sz="1600" b="1" dirty="0" err="1">
                <a:solidFill>
                  <a:srgbClr val="3B7562"/>
                </a:solidFill>
                <a:latin typeface="NanumSquare"/>
              </a:rPr>
              <a:t>제약</a:t>
            </a:r>
            <a:endParaRPr sz="1600" b="1" dirty="0">
              <a:solidFill>
                <a:srgbClr val="3B7562"/>
              </a:solidFill>
              <a:latin typeface="NanumSquare"/>
            </a:endParaRPr>
          </a:p>
        </p:txBody>
      </p:sp>
      <p:sp>
        <p:nvSpPr>
          <p:cNvPr id="21" name="TextBox 20"/>
          <p:cNvSpPr txBox="1"/>
          <p:nvPr/>
        </p:nvSpPr>
        <p:spPr>
          <a:xfrm>
            <a:off x="2203704" y="5383411"/>
            <a:ext cx="9043416" cy="260841"/>
          </a:xfrm>
          <a:prstGeom prst="rect">
            <a:avLst/>
          </a:prstGeom>
          <a:noFill/>
        </p:spPr>
        <p:txBody>
          <a:bodyPr wrap="square" lIns="27432" tIns="0" rIns="27432" bIns="0" anchor="ctr">
            <a:spAutoFit/>
          </a:bodyPr>
          <a:lstStyle/>
          <a:p>
            <a:pPr algn="l">
              <a:lnSpc>
                <a:spcPct val="113000"/>
              </a:lnSpc>
              <a:spcAft>
                <a:spcPts val="0"/>
              </a:spcAft>
            </a:pPr>
            <a:r>
              <a:rPr sz="1600" b="1" dirty="0" err="1">
                <a:solidFill>
                  <a:srgbClr val="203B2C"/>
                </a:solidFill>
                <a:latin typeface="NanumSquare"/>
              </a:rPr>
              <a:t>롱온리</a:t>
            </a:r>
            <a:r>
              <a:rPr sz="1600" b="1" dirty="0">
                <a:solidFill>
                  <a:srgbClr val="203B2C"/>
                </a:solidFill>
                <a:latin typeface="NanumSquare"/>
              </a:rPr>
              <a:t> · </a:t>
            </a:r>
            <a:r>
              <a:rPr sz="1600" b="1" dirty="0" err="1">
                <a:solidFill>
                  <a:srgbClr val="203B2C"/>
                </a:solidFill>
                <a:latin typeface="NanumSquare"/>
              </a:rPr>
              <a:t>종목</a:t>
            </a:r>
            <a:r>
              <a:rPr sz="1600" b="1" dirty="0">
                <a:solidFill>
                  <a:srgbClr val="203B2C"/>
                </a:solidFill>
                <a:latin typeface="NanumSquare"/>
              </a:rPr>
              <a:t>/</a:t>
            </a:r>
            <a:r>
              <a:rPr sz="1600" b="1" dirty="0" err="1">
                <a:solidFill>
                  <a:srgbClr val="203B2C"/>
                </a:solidFill>
                <a:latin typeface="NanumSquare"/>
              </a:rPr>
              <a:t>섹터</a:t>
            </a:r>
            <a:r>
              <a:rPr sz="1600" b="1" dirty="0">
                <a:solidFill>
                  <a:srgbClr val="203B2C"/>
                </a:solidFill>
                <a:latin typeface="NanumSquare"/>
              </a:rPr>
              <a:t> </a:t>
            </a:r>
            <a:r>
              <a:rPr sz="1600" b="1" dirty="0" err="1">
                <a:solidFill>
                  <a:srgbClr val="203B2C"/>
                </a:solidFill>
                <a:latin typeface="NanumSquare"/>
              </a:rPr>
              <a:t>상한</a:t>
            </a:r>
            <a:r>
              <a:rPr sz="1600" b="1" dirty="0">
                <a:solidFill>
                  <a:srgbClr val="203B2C"/>
                </a:solidFill>
                <a:latin typeface="NanumSquare"/>
              </a:rPr>
              <a:t> · </a:t>
            </a:r>
            <a:r>
              <a:rPr sz="1600" b="1" dirty="0" err="1">
                <a:solidFill>
                  <a:srgbClr val="203B2C"/>
                </a:solidFill>
                <a:latin typeface="NanumSquare"/>
              </a:rPr>
              <a:t>현금</a:t>
            </a:r>
            <a:r>
              <a:rPr sz="1600" b="1" dirty="0">
                <a:solidFill>
                  <a:srgbClr val="203B2C"/>
                </a:solidFill>
                <a:latin typeface="NanumSquare"/>
              </a:rPr>
              <a:t> </a:t>
            </a:r>
            <a:r>
              <a:rPr sz="1600" b="1" dirty="0" err="1">
                <a:solidFill>
                  <a:srgbClr val="203B2C"/>
                </a:solidFill>
                <a:latin typeface="NanumSquare"/>
              </a:rPr>
              <a:t>허용</a:t>
            </a:r>
            <a:endParaRPr sz="1600" b="1" dirty="0">
              <a:solidFill>
                <a:srgbClr val="203B2C"/>
              </a:solidFill>
              <a:latin typeface="NanumSquare"/>
            </a:endParaRPr>
          </a:p>
        </p:txBody>
      </p:sp>
      <p:sp>
        <p:nvSpPr>
          <p:cNvPr id="22" name="TextBox 21"/>
          <p:cNvSpPr txBox="1"/>
          <p:nvPr/>
        </p:nvSpPr>
        <p:spPr>
          <a:xfrm>
            <a:off x="630936" y="5980176"/>
            <a:ext cx="10936224" cy="228600"/>
          </a:xfrm>
          <a:prstGeom prst="rect">
            <a:avLst/>
          </a:prstGeom>
          <a:noFill/>
        </p:spPr>
        <p:txBody>
          <a:bodyPr wrap="square" lIns="27432" tIns="0" rIns="27432" bIns="0" anchor="ctr">
            <a:spAutoFit/>
          </a:bodyPr>
          <a:lstStyle/>
          <a:p>
            <a:pPr algn="l">
              <a:lnSpc>
                <a:spcPct val="113000"/>
              </a:lnSpc>
              <a:spcAft>
                <a:spcPts val="0"/>
              </a:spcAft>
            </a:pPr>
            <a:r>
              <a:rPr sz="1200" b="0" dirty="0" err="1">
                <a:solidFill>
                  <a:srgbClr val="64766A"/>
                </a:solidFill>
                <a:latin typeface="NanumSquare"/>
              </a:rPr>
              <a:t>LLM이</a:t>
            </a:r>
            <a:r>
              <a:rPr sz="1200" b="0" dirty="0">
                <a:solidFill>
                  <a:srgbClr val="64766A"/>
                </a:solidFill>
                <a:latin typeface="NanumSquare"/>
              </a:rPr>
              <a:t> </a:t>
            </a:r>
            <a:r>
              <a:rPr sz="1200" b="0" dirty="0" err="1">
                <a:solidFill>
                  <a:srgbClr val="64766A"/>
                </a:solidFill>
                <a:latin typeface="NanumSquare"/>
              </a:rPr>
              <a:t>아니라</a:t>
            </a:r>
            <a:r>
              <a:rPr sz="1200" b="0" dirty="0">
                <a:solidFill>
                  <a:srgbClr val="64766A"/>
                </a:solidFill>
                <a:latin typeface="NanumSquare"/>
              </a:rPr>
              <a:t> </a:t>
            </a:r>
            <a:r>
              <a:rPr sz="1200" b="0" dirty="0" err="1">
                <a:solidFill>
                  <a:srgbClr val="64766A"/>
                </a:solidFill>
                <a:latin typeface="NanumSquare"/>
              </a:rPr>
              <a:t>최적화</a:t>
            </a:r>
            <a:r>
              <a:rPr sz="1200" b="0" dirty="0">
                <a:solidFill>
                  <a:srgbClr val="64766A"/>
                </a:solidFill>
                <a:latin typeface="NanumSquare"/>
              </a:rPr>
              <a:t> </a:t>
            </a:r>
            <a:r>
              <a:rPr sz="1200" b="0" dirty="0" err="1">
                <a:solidFill>
                  <a:srgbClr val="64766A"/>
                </a:solidFill>
                <a:latin typeface="NanumSquare"/>
              </a:rPr>
              <a:t>코드가</a:t>
            </a:r>
            <a:r>
              <a:rPr sz="1200" b="0" dirty="0">
                <a:solidFill>
                  <a:srgbClr val="64766A"/>
                </a:solidFill>
                <a:latin typeface="NanumSquare"/>
              </a:rPr>
              <a:t> </a:t>
            </a:r>
            <a:r>
              <a:rPr sz="1200" b="0" dirty="0" err="1">
                <a:solidFill>
                  <a:srgbClr val="64766A"/>
                </a:solidFill>
                <a:latin typeface="NanumSquare"/>
              </a:rPr>
              <a:t>비중을</a:t>
            </a:r>
            <a:r>
              <a:rPr sz="1200" b="0" dirty="0">
                <a:solidFill>
                  <a:srgbClr val="64766A"/>
                </a:solidFill>
                <a:latin typeface="NanumSquare"/>
              </a:rPr>
              <a:t> </a:t>
            </a:r>
            <a:r>
              <a:rPr sz="1200" b="0" dirty="0" err="1">
                <a:solidFill>
                  <a:srgbClr val="64766A"/>
                </a:solidFill>
                <a:latin typeface="NanumSquare"/>
              </a:rPr>
              <a:t>결정</a:t>
            </a:r>
            <a:r>
              <a:rPr sz="1200" b="0" dirty="0">
                <a:solidFill>
                  <a:srgbClr val="64766A"/>
                </a:solidFill>
                <a:latin typeface="NanumSquare"/>
              </a:rPr>
              <a:t>  ·  </a:t>
            </a:r>
            <a:r>
              <a:rPr sz="1200" b="0" dirty="0" err="1">
                <a:solidFill>
                  <a:srgbClr val="64766A"/>
                </a:solidFill>
                <a:latin typeface="NanumSquare"/>
              </a:rPr>
              <a:t>비중</a:t>
            </a:r>
            <a:r>
              <a:rPr sz="1200" b="0" dirty="0">
                <a:solidFill>
                  <a:srgbClr val="64766A"/>
                </a:solidFill>
                <a:latin typeface="NanumSquare"/>
              </a:rPr>
              <a:t> </a:t>
            </a:r>
            <a:r>
              <a:rPr sz="1200" b="0" dirty="0" err="1">
                <a:solidFill>
                  <a:srgbClr val="64766A"/>
                </a:solidFill>
                <a:latin typeface="NanumSquare"/>
              </a:rPr>
              <a:t>변경과</a:t>
            </a:r>
            <a:r>
              <a:rPr sz="1200" b="0" dirty="0">
                <a:solidFill>
                  <a:srgbClr val="64766A"/>
                </a:solidFill>
                <a:latin typeface="NanumSquare"/>
              </a:rPr>
              <a:t> </a:t>
            </a:r>
            <a:r>
              <a:rPr sz="1200" b="0" dirty="0" err="1">
                <a:solidFill>
                  <a:srgbClr val="64766A"/>
                </a:solidFill>
                <a:latin typeface="NanumSquare"/>
              </a:rPr>
              <a:t>제약</a:t>
            </a:r>
            <a:r>
              <a:rPr sz="1200" b="0" dirty="0">
                <a:solidFill>
                  <a:srgbClr val="64766A"/>
                </a:solidFill>
                <a:latin typeface="NanumSquare"/>
              </a:rPr>
              <a:t> </a:t>
            </a:r>
            <a:r>
              <a:rPr sz="1200" b="0" dirty="0" err="1">
                <a:solidFill>
                  <a:srgbClr val="64766A"/>
                </a:solidFill>
                <a:latin typeface="NanumSquare"/>
              </a:rPr>
              <a:t>기록은</a:t>
            </a:r>
            <a:r>
              <a:rPr sz="1200" b="0" dirty="0">
                <a:solidFill>
                  <a:srgbClr val="64766A"/>
                </a:solidFill>
                <a:latin typeface="NanumSquare"/>
              </a:rPr>
              <a:t> </a:t>
            </a:r>
            <a:r>
              <a:rPr sz="1200" b="0" dirty="0" err="1">
                <a:solidFill>
                  <a:srgbClr val="64766A"/>
                </a:solidFill>
                <a:latin typeface="NanumSquare"/>
              </a:rPr>
              <a:t>설명</a:t>
            </a:r>
            <a:r>
              <a:rPr sz="1200" b="0" dirty="0">
                <a:solidFill>
                  <a:srgbClr val="64766A"/>
                </a:solidFill>
                <a:latin typeface="NanumSquare"/>
              </a:rPr>
              <a:t> </a:t>
            </a:r>
            <a:r>
              <a:rPr sz="1200" b="0" dirty="0" err="1">
                <a:solidFill>
                  <a:srgbClr val="64766A"/>
                </a:solidFill>
                <a:latin typeface="NanumSquare"/>
              </a:rPr>
              <a:t>근거로</a:t>
            </a:r>
            <a:r>
              <a:rPr sz="1200" b="0" dirty="0">
                <a:solidFill>
                  <a:srgbClr val="64766A"/>
                </a:solidFill>
                <a:latin typeface="NanumSquare"/>
              </a:rPr>
              <a:t> </a:t>
            </a:r>
            <a:r>
              <a:rPr sz="1200" b="0" dirty="0" err="1">
                <a:solidFill>
                  <a:srgbClr val="64766A"/>
                </a:solidFill>
                <a:latin typeface="NanumSquare"/>
              </a:rPr>
              <a:t>저장</a:t>
            </a:r>
            <a:endParaRPr sz="1200" b="0" dirty="0">
              <a:solidFill>
                <a:srgbClr val="64766A"/>
              </a:solidFill>
              <a:latin typeface="NanumSquare"/>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57784" y="320040"/>
            <a:ext cx="10561320" cy="676656"/>
          </a:xfrm>
          <a:prstGeom prst="rect">
            <a:avLst/>
          </a:prstGeom>
          <a:noFill/>
        </p:spPr>
        <p:txBody>
          <a:bodyPr wrap="square" lIns="27432" tIns="0" rIns="27432" bIns="0" anchor="ctr">
            <a:spAutoFit/>
          </a:bodyPr>
          <a:lstStyle/>
          <a:p>
            <a:pPr algn="l">
              <a:lnSpc>
                <a:spcPct val="113000"/>
              </a:lnSpc>
              <a:spcAft>
                <a:spcPts val="0"/>
              </a:spcAft>
            </a:pPr>
            <a:r>
              <a:rPr sz="3000" b="1" dirty="0" err="1">
                <a:solidFill>
                  <a:srgbClr val="203B2C"/>
                </a:solidFill>
                <a:latin typeface="NanumSquare"/>
              </a:rPr>
              <a:t>해결</a:t>
            </a:r>
            <a:r>
              <a:rPr sz="3000" b="1" dirty="0">
                <a:solidFill>
                  <a:srgbClr val="203B2C"/>
                </a:solidFill>
                <a:latin typeface="NanumSquare"/>
              </a:rPr>
              <a:t> </a:t>
            </a:r>
            <a:r>
              <a:rPr sz="3000" b="1" dirty="0" err="1">
                <a:solidFill>
                  <a:srgbClr val="203B2C"/>
                </a:solidFill>
                <a:latin typeface="NanumSquare"/>
              </a:rPr>
              <a:t>가설</a:t>
            </a:r>
            <a:r>
              <a:rPr sz="3000" b="1" dirty="0">
                <a:solidFill>
                  <a:srgbClr val="203B2C"/>
                </a:solidFill>
                <a:latin typeface="NanumSquare"/>
              </a:rPr>
              <a:t>: </a:t>
            </a:r>
            <a:r>
              <a:rPr sz="3000" b="1" dirty="0" err="1">
                <a:solidFill>
                  <a:srgbClr val="203B2C"/>
                </a:solidFill>
                <a:latin typeface="NanumSquare"/>
              </a:rPr>
              <a:t>성과</a:t>
            </a:r>
            <a:r>
              <a:rPr sz="3000" b="1" dirty="0">
                <a:solidFill>
                  <a:srgbClr val="203B2C"/>
                </a:solidFill>
                <a:latin typeface="NanumSquare"/>
              </a:rPr>
              <a:t> </a:t>
            </a:r>
            <a:r>
              <a:rPr sz="3000" b="1" dirty="0" err="1">
                <a:solidFill>
                  <a:srgbClr val="203B2C"/>
                </a:solidFill>
                <a:latin typeface="NanumSquare"/>
              </a:rPr>
              <a:t>개선</a:t>
            </a:r>
            <a:r>
              <a:rPr sz="3000" b="1" dirty="0">
                <a:solidFill>
                  <a:srgbClr val="203B2C"/>
                </a:solidFill>
                <a:latin typeface="NanumSquare"/>
              </a:rPr>
              <a:t> + </a:t>
            </a:r>
            <a:r>
              <a:rPr sz="3000" b="1" dirty="0" err="1">
                <a:solidFill>
                  <a:srgbClr val="203B2C"/>
                </a:solidFill>
                <a:latin typeface="NanumSquare"/>
              </a:rPr>
              <a:t>설명</a:t>
            </a:r>
            <a:r>
              <a:rPr sz="3000" b="1" dirty="0">
                <a:solidFill>
                  <a:srgbClr val="203B2C"/>
                </a:solidFill>
                <a:latin typeface="NanumSquare"/>
              </a:rPr>
              <a:t> </a:t>
            </a:r>
            <a:r>
              <a:rPr sz="3000" b="1" dirty="0" err="1">
                <a:solidFill>
                  <a:srgbClr val="203B2C"/>
                </a:solidFill>
                <a:latin typeface="NanumSquare"/>
              </a:rPr>
              <a:t>검증</a:t>
            </a:r>
            <a:endParaRPr sz="3000" b="1" dirty="0">
              <a:solidFill>
                <a:srgbClr val="203B2C"/>
              </a:solidFill>
              <a:latin typeface="NanumSquare"/>
            </a:endParaRPr>
          </a:p>
        </p:txBody>
      </p:sp>
      <p:cxnSp>
        <p:nvCxnSpPr>
          <p:cNvPr id="3" name="Connector 2"/>
          <p:cNvCxnSpPr/>
          <p:nvPr/>
        </p:nvCxnSpPr>
        <p:spPr>
          <a:xfrm>
            <a:off x="594360" y="1188720"/>
            <a:ext cx="11000232" cy="0"/>
          </a:xfrm>
          <a:prstGeom prst="line">
            <a:avLst/>
          </a:prstGeom>
          <a:ln w="12700">
            <a:solidFill>
              <a:srgbClr val="DCE6DD"/>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585216" y="6373368"/>
            <a:ext cx="5486400" cy="192024"/>
          </a:xfrm>
          <a:prstGeom prst="rect">
            <a:avLst/>
          </a:prstGeom>
          <a:noFill/>
        </p:spPr>
        <p:txBody>
          <a:bodyPr wrap="square" lIns="27432" tIns="0" rIns="27432" bIns="0" anchor="ctr">
            <a:spAutoFit/>
          </a:bodyPr>
          <a:lstStyle/>
          <a:p>
            <a:pPr algn="l">
              <a:lnSpc>
                <a:spcPct val="113000"/>
              </a:lnSpc>
              <a:spcAft>
                <a:spcPts val="0"/>
              </a:spcAft>
            </a:pPr>
            <a:r>
              <a:rPr sz="1000" b="0">
                <a:solidFill>
                  <a:srgbClr val="64766A"/>
                </a:solidFill>
                <a:latin typeface="NanumSquare"/>
              </a:rPr>
              <a:t>개미구조대  ·  AI 캡스톤 디자인</a:t>
            </a:r>
          </a:p>
        </p:txBody>
      </p:sp>
      <p:sp>
        <p:nvSpPr>
          <p:cNvPr id="5" name="TextBox 4"/>
          <p:cNvSpPr txBox="1"/>
          <p:nvPr/>
        </p:nvSpPr>
        <p:spPr>
          <a:xfrm>
            <a:off x="11109960" y="6383574"/>
            <a:ext cx="457200" cy="180755"/>
          </a:xfrm>
          <a:prstGeom prst="rect">
            <a:avLst/>
          </a:prstGeom>
          <a:noFill/>
        </p:spPr>
        <p:txBody>
          <a:bodyPr wrap="square" lIns="27432" tIns="0" rIns="27432" bIns="0" anchor="ctr">
            <a:spAutoFit/>
          </a:bodyPr>
          <a:lstStyle/>
          <a:p>
            <a:pPr algn="r">
              <a:lnSpc>
                <a:spcPct val="113000"/>
              </a:lnSpc>
              <a:spcAft>
                <a:spcPts val="0"/>
              </a:spcAft>
            </a:pPr>
            <a:r>
              <a:rPr lang="en-US" sz="1100" dirty="0">
                <a:solidFill>
                  <a:srgbClr val="64766A"/>
                </a:solidFill>
                <a:latin typeface="NanumSquare"/>
              </a:rPr>
              <a:t>6</a:t>
            </a:r>
            <a:endParaRPr sz="1100" b="0" dirty="0">
              <a:solidFill>
                <a:srgbClr val="64766A"/>
              </a:solidFill>
              <a:latin typeface="NanumSquare"/>
            </a:endParaRPr>
          </a:p>
        </p:txBody>
      </p:sp>
      <p:sp>
        <p:nvSpPr>
          <p:cNvPr id="6" name="Rounded Rectangle 5"/>
          <p:cNvSpPr/>
          <p:nvPr/>
        </p:nvSpPr>
        <p:spPr>
          <a:xfrm>
            <a:off x="603504" y="1627632"/>
            <a:ext cx="5358384" cy="4123944"/>
          </a:xfrm>
          <a:prstGeom prst="roundRect">
            <a:avLst>
              <a:gd name="adj" fmla="val 9000"/>
            </a:avLst>
          </a:prstGeom>
          <a:solidFill>
            <a:srgbClr val="EFF4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841248" y="1865376"/>
            <a:ext cx="694944" cy="393192"/>
          </a:xfrm>
          <a:prstGeom prst="roundRect">
            <a:avLst>
              <a:gd name="adj" fmla="val 9000"/>
            </a:avLst>
          </a:prstGeom>
          <a:solidFill>
            <a:srgbClr val="1D3B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841248" y="1883664"/>
            <a:ext cx="694944" cy="356616"/>
          </a:xfrm>
          <a:prstGeom prst="rect">
            <a:avLst/>
          </a:prstGeom>
          <a:noFill/>
        </p:spPr>
        <p:txBody>
          <a:bodyPr wrap="square" lIns="27432" tIns="0" rIns="27432" bIns="0" anchor="ctr">
            <a:spAutoFit/>
          </a:bodyPr>
          <a:lstStyle/>
          <a:p>
            <a:pPr algn="ctr">
              <a:lnSpc>
                <a:spcPct val="113000"/>
              </a:lnSpc>
              <a:spcAft>
                <a:spcPts val="0"/>
              </a:spcAft>
            </a:pPr>
            <a:r>
              <a:rPr sz="1600" b="1">
                <a:solidFill>
                  <a:srgbClr val="FFFFFF"/>
                </a:solidFill>
                <a:latin typeface="NanumSquare"/>
              </a:rPr>
              <a:t>H1</a:t>
            </a:r>
          </a:p>
        </p:txBody>
      </p:sp>
      <p:sp>
        <p:nvSpPr>
          <p:cNvPr id="9" name="TextBox 8"/>
          <p:cNvSpPr txBox="1"/>
          <p:nvPr/>
        </p:nvSpPr>
        <p:spPr>
          <a:xfrm>
            <a:off x="1682495" y="1828800"/>
            <a:ext cx="4005072" cy="429768"/>
          </a:xfrm>
          <a:prstGeom prst="rect">
            <a:avLst/>
          </a:prstGeom>
          <a:noFill/>
        </p:spPr>
        <p:txBody>
          <a:bodyPr wrap="square" lIns="27432" tIns="0" rIns="27432" bIns="0" anchor="ctr">
            <a:spAutoFit/>
          </a:bodyPr>
          <a:lstStyle/>
          <a:p>
            <a:pPr algn="l">
              <a:lnSpc>
                <a:spcPct val="113000"/>
              </a:lnSpc>
              <a:spcAft>
                <a:spcPts val="0"/>
              </a:spcAft>
            </a:pPr>
            <a:r>
              <a:rPr sz="2100" b="1">
                <a:solidFill>
                  <a:srgbClr val="203B2C"/>
                </a:solidFill>
                <a:latin typeface="NanumSquare"/>
              </a:rPr>
              <a:t>위험 대비 성과 개선</a:t>
            </a:r>
          </a:p>
        </p:txBody>
      </p:sp>
      <p:sp>
        <p:nvSpPr>
          <p:cNvPr id="10" name="TextBox 9"/>
          <p:cNvSpPr txBox="1"/>
          <p:nvPr/>
        </p:nvSpPr>
        <p:spPr>
          <a:xfrm>
            <a:off x="859536" y="2523744"/>
            <a:ext cx="4873752" cy="356616"/>
          </a:xfrm>
          <a:prstGeom prst="rect">
            <a:avLst/>
          </a:prstGeom>
          <a:noFill/>
        </p:spPr>
        <p:txBody>
          <a:bodyPr wrap="square" lIns="27432" tIns="0" rIns="27432" bIns="0" anchor="ctr">
            <a:spAutoFit/>
          </a:bodyPr>
          <a:lstStyle/>
          <a:p>
            <a:pPr algn="l">
              <a:lnSpc>
                <a:spcPct val="113000"/>
              </a:lnSpc>
              <a:spcAft>
                <a:spcPts val="0"/>
              </a:spcAft>
            </a:pPr>
            <a:r>
              <a:rPr sz="1500" b="0">
                <a:solidFill>
                  <a:srgbClr val="64766A"/>
                </a:solidFill>
                <a:latin typeface="NanumSquare"/>
              </a:rPr>
              <a:t>미래 경로 + 전문가 전망 + 제약</a:t>
            </a:r>
          </a:p>
        </p:txBody>
      </p:sp>
      <p:sp>
        <p:nvSpPr>
          <p:cNvPr id="11" name="Rounded Rectangle 10"/>
          <p:cNvSpPr/>
          <p:nvPr/>
        </p:nvSpPr>
        <p:spPr>
          <a:xfrm>
            <a:off x="850392" y="3090672"/>
            <a:ext cx="4873752" cy="438912"/>
          </a:xfrm>
          <a:prstGeom prst="roundRect">
            <a:avLst>
              <a:gd name="adj" fmla="val 9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Oval 11"/>
          <p:cNvSpPr/>
          <p:nvPr/>
        </p:nvSpPr>
        <p:spPr>
          <a:xfrm>
            <a:off x="1014984" y="3255264"/>
            <a:ext cx="100584" cy="100584"/>
          </a:xfrm>
          <a:prstGeom prst="ellipse">
            <a:avLst/>
          </a:prstGeom>
          <a:solidFill>
            <a:srgbClr val="3B75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1225296" y="3118104"/>
            <a:ext cx="4261104" cy="365760"/>
          </a:xfrm>
          <a:prstGeom prst="rect">
            <a:avLst/>
          </a:prstGeom>
          <a:noFill/>
        </p:spPr>
        <p:txBody>
          <a:bodyPr wrap="square" lIns="27432" tIns="0" rIns="27432" bIns="0" anchor="ctr">
            <a:spAutoFit/>
          </a:bodyPr>
          <a:lstStyle/>
          <a:p>
            <a:pPr algn="l">
              <a:lnSpc>
                <a:spcPct val="113000"/>
              </a:lnSpc>
              <a:spcAft>
                <a:spcPts val="0"/>
              </a:spcAft>
            </a:pPr>
            <a:r>
              <a:rPr sz="1500" b="0">
                <a:solidFill>
                  <a:srgbClr val="203B2C"/>
                </a:solidFill>
                <a:latin typeface="NanumSquare"/>
              </a:rPr>
              <a:t>Diffusion 경로</a:t>
            </a:r>
          </a:p>
        </p:txBody>
      </p:sp>
      <p:sp>
        <p:nvSpPr>
          <p:cNvPr id="14" name="Rounded Rectangle 13"/>
          <p:cNvSpPr/>
          <p:nvPr/>
        </p:nvSpPr>
        <p:spPr>
          <a:xfrm>
            <a:off x="850392" y="3639312"/>
            <a:ext cx="4873752" cy="438912"/>
          </a:xfrm>
          <a:prstGeom prst="roundRect">
            <a:avLst>
              <a:gd name="adj" fmla="val 9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Oval 14"/>
          <p:cNvSpPr/>
          <p:nvPr/>
        </p:nvSpPr>
        <p:spPr>
          <a:xfrm>
            <a:off x="1014984" y="3803904"/>
            <a:ext cx="100584" cy="100584"/>
          </a:xfrm>
          <a:prstGeom prst="ellipse">
            <a:avLst/>
          </a:prstGeom>
          <a:solidFill>
            <a:srgbClr val="3B75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1225296" y="3666744"/>
            <a:ext cx="4261104" cy="365760"/>
          </a:xfrm>
          <a:prstGeom prst="rect">
            <a:avLst/>
          </a:prstGeom>
          <a:noFill/>
        </p:spPr>
        <p:txBody>
          <a:bodyPr wrap="square" lIns="27432" tIns="0" rIns="27432" bIns="0" anchor="ctr">
            <a:spAutoFit/>
          </a:bodyPr>
          <a:lstStyle/>
          <a:p>
            <a:pPr algn="l">
              <a:lnSpc>
                <a:spcPct val="113000"/>
              </a:lnSpc>
              <a:spcAft>
                <a:spcPts val="0"/>
              </a:spcAft>
            </a:pPr>
            <a:r>
              <a:rPr sz="1500" b="0">
                <a:solidFill>
                  <a:srgbClr val="203B2C"/>
                </a:solidFill>
                <a:latin typeface="NanumSquare"/>
              </a:rPr>
              <a:t>리포트의 수정 전망</a:t>
            </a:r>
          </a:p>
        </p:txBody>
      </p:sp>
      <p:sp>
        <p:nvSpPr>
          <p:cNvPr id="17" name="Rounded Rectangle 16"/>
          <p:cNvSpPr/>
          <p:nvPr/>
        </p:nvSpPr>
        <p:spPr>
          <a:xfrm>
            <a:off x="850392" y="4187952"/>
            <a:ext cx="4873752" cy="438912"/>
          </a:xfrm>
          <a:prstGeom prst="roundRect">
            <a:avLst>
              <a:gd name="adj" fmla="val 9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Oval 17"/>
          <p:cNvSpPr/>
          <p:nvPr/>
        </p:nvSpPr>
        <p:spPr>
          <a:xfrm>
            <a:off x="1014984" y="4352544"/>
            <a:ext cx="100584" cy="100584"/>
          </a:xfrm>
          <a:prstGeom prst="ellipse">
            <a:avLst/>
          </a:prstGeom>
          <a:solidFill>
            <a:srgbClr val="3B75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1225296" y="4215384"/>
            <a:ext cx="4261104" cy="365760"/>
          </a:xfrm>
          <a:prstGeom prst="rect">
            <a:avLst/>
          </a:prstGeom>
          <a:noFill/>
        </p:spPr>
        <p:txBody>
          <a:bodyPr wrap="square" lIns="27432" tIns="0" rIns="27432" bIns="0" anchor="ctr">
            <a:spAutoFit/>
          </a:bodyPr>
          <a:lstStyle/>
          <a:p>
            <a:pPr algn="l">
              <a:lnSpc>
                <a:spcPct val="113000"/>
              </a:lnSpc>
              <a:spcAft>
                <a:spcPts val="0"/>
              </a:spcAft>
            </a:pPr>
            <a:r>
              <a:rPr sz="1500" b="0">
                <a:solidFill>
                  <a:srgbClr val="203B2C"/>
                </a:solidFill>
                <a:latin typeface="NanumSquare"/>
              </a:rPr>
              <a:t>종목·섹터 위험 제약</a:t>
            </a:r>
          </a:p>
        </p:txBody>
      </p:sp>
      <p:sp>
        <p:nvSpPr>
          <p:cNvPr id="20" name="Rounded Rectangle 19"/>
          <p:cNvSpPr/>
          <p:nvPr/>
        </p:nvSpPr>
        <p:spPr>
          <a:xfrm>
            <a:off x="859536" y="4983480"/>
            <a:ext cx="4846320" cy="493776"/>
          </a:xfrm>
          <a:prstGeom prst="roundRect">
            <a:avLst>
              <a:gd name="adj" fmla="val 9000"/>
            </a:avLst>
          </a:prstGeom>
          <a:solidFill>
            <a:srgbClr val="1D3B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932688" y="5038344"/>
            <a:ext cx="4690872" cy="384048"/>
          </a:xfrm>
          <a:prstGeom prst="rect">
            <a:avLst/>
          </a:prstGeom>
          <a:noFill/>
        </p:spPr>
        <p:txBody>
          <a:bodyPr wrap="square" lIns="27432" tIns="0" rIns="27432" bIns="0" anchor="ctr">
            <a:spAutoFit/>
          </a:bodyPr>
          <a:lstStyle/>
          <a:p>
            <a:pPr algn="ctr">
              <a:lnSpc>
                <a:spcPct val="113000"/>
              </a:lnSpc>
              <a:spcAft>
                <a:spcPts val="0"/>
              </a:spcAft>
            </a:pPr>
            <a:r>
              <a:rPr sz="1400" b="1">
                <a:solidFill>
                  <a:srgbClr val="FFFFFF"/>
                </a:solidFill>
                <a:latin typeface="NanumSquare"/>
              </a:rPr>
              <a:t>Sharpe·최대낙폭·변동성으로 검증</a:t>
            </a:r>
          </a:p>
        </p:txBody>
      </p:sp>
      <p:sp>
        <p:nvSpPr>
          <p:cNvPr id="22" name="Rounded Rectangle 21"/>
          <p:cNvSpPr/>
          <p:nvPr/>
        </p:nvSpPr>
        <p:spPr>
          <a:xfrm>
            <a:off x="6217920" y="1627632"/>
            <a:ext cx="5358384" cy="4123944"/>
          </a:xfrm>
          <a:prstGeom prst="roundRect">
            <a:avLst>
              <a:gd name="adj" fmla="val 9000"/>
            </a:avLst>
          </a:prstGeom>
          <a:solidFill>
            <a:srgbClr val="EFF4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ounded Rectangle 22"/>
          <p:cNvSpPr/>
          <p:nvPr/>
        </p:nvSpPr>
        <p:spPr>
          <a:xfrm>
            <a:off x="6455664" y="1865376"/>
            <a:ext cx="694944" cy="393192"/>
          </a:xfrm>
          <a:prstGeom prst="roundRect">
            <a:avLst>
              <a:gd name="adj" fmla="val 9000"/>
            </a:avLst>
          </a:prstGeom>
          <a:solidFill>
            <a:srgbClr val="1D3B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6455664" y="1883664"/>
            <a:ext cx="694944" cy="356616"/>
          </a:xfrm>
          <a:prstGeom prst="rect">
            <a:avLst/>
          </a:prstGeom>
          <a:noFill/>
        </p:spPr>
        <p:txBody>
          <a:bodyPr wrap="square" lIns="27432" tIns="0" rIns="27432" bIns="0" anchor="ctr">
            <a:spAutoFit/>
          </a:bodyPr>
          <a:lstStyle/>
          <a:p>
            <a:pPr algn="ctr">
              <a:lnSpc>
                <a:spcPct val="113000"/>
              </a:lnSpc>
              <a:spcAft>
                <a:spcPts val="0"/>
              </a:spcAft>
            </a:pPr>
            <a:r>
              <a:rPr sz="1600" b="1">
                <a:solidFill>
                  <a:srgbClr val="FFFFFF"/>
                </a:solidFill>
                <a:latin typeface="NanumSquare"/>
              </a:rPr>
              <a:t>H2</a:t>
            </a:r>
          </a:p>
        </p:txBody>
      </p:sp>
      <p:sp>
        <p:nvSpPr>
          <p:cNvPr id="25" name="TextBox 24"/>
          <p:cNvSpPr txBox="1"/>
          <p:nvPr/>
        </p:nvSpPr>
        <p:spPr>
          <a:xfrm>
            <a:off x="7296912" y="1828800"/>
            <a:ext cx="4005072" cy="429768"/>
          </a:xfrm>
          <a:prstGeom prst="rect">
            <a:avLst/>
          </a:prstGeom>
          <a:noFill/>
        </p:spPr>
        <p:txBody>
          <a:bodyPr wrap="square" lIns="27432" tIns="0" rIns="27432" bIns="0" anchor="ctr">
            <a:spAutoFit/>
          </a:bodyPr>
          <a:lstStyle/>
          <a:p>
            <a:pPr algn="l">
              <a:lnSpc>
                <a:spcPct val="113000"/>
              </a:lnSpc>
              <a:spcAft>
                <a:spcPts val="0"/>
              </a:spcAft>
            </a:pPr>
            <a:r>
              <a:rPr sz="2100" b="1" dirty="0" err="1">
                <a:solidFill>
                  <a:srgbClr val="203B2C"/>
                </a:solidFill>
                <a:latin typeface="NanumSquare"/>
              </a:rPr>
              <a:t>결정</a:t>
            </a:r>
            <a:r>
              <a:rPr sz="2100" b="1" dirty="0">
                <a:solidFill>
                  <a:srgbClr val="203B2C"/>
                </a:solidFill>
                <a:latin typeface="NanumSquare"/>
              </a:rPr>
              <a:t> </a:t>
            </a:r>
            <a:r>
              <a:rPr sz="2100" b="1" dirty="0" err="1">
                <a:solidFill>
                  <a:srgbClr val="203B2C"/>
                </a:solidFill>
                <a:latin typeface="NanumSquare"/>
              </a:rPr>
              <a:t>근거의</a:t>
            </a:r>
            <a:r>
              <a:rPr sz="2100" b="1" dirty="0">
                <a:solidFill>
                  <a:srgbClr val="203B2C"/>
                </a:solidFill>
                <a:latin typeface="NanumSquare"/>
              </a:rPr>
              <a:t> </a:t>
            </a:r>
            <a:r>
              <a:rPr sz="2100" b="1" dirty="0" err="1">
                <a:solidFill>
                  <a:srgbClr val="203B2C"/>
                </a:solidFill>
                <a:latin typeface="NanumSquare"/>
              </a:rPr>
              <a:t>확인</a:t>
            </a:r>
            <a:r>
              <a:rPr sz="2100" b="1" dirty="0">
                <a:solidFill>
                  <a:srgbClr val="203B2C"/>
                </a:solidFill>
                <a:latin typeface="NanumSquare"/>
              </a:rPr>
              <a:t> </a:t>
            </a:r>
            <a:r>
              <a:rPr sz="2100" b="1" dirty="0" err="1">
                <a:solidFill>
                  <a:srgbClr val="203B2C"/>
                </a:solidFill>
                <a:latin typeface="NanumSquare"/>
              </a:rPr>
              <a:t>가능성</a:t>
            </a:r>
            <a:endParaRPr sz="2100" b="1" dirty="0">
              <a:solidFill>
                <a:srgbClr val="203B2C"/>
              </a:solidFill>
              <a:latin typeface="NanumSquare"/>
            </a:endParaRPr>
          </a:p>
        </p:txBody>
      </p:sp>
      <p:sp>
        <p:nvSpPr>
          <p:cNvPr id="26" name="TextBox 25"/>
          <p:cNvSpPr txBox="1"/>
          <p:nvPr/>
        </p:nvSpPr>
        <p:spPr>
          <a:xfrm>
            <a:off x="6473952" y="2579775"/>
            <a:ext cx="4873752" cy="244554"/>
          </a:xfrm>
          <a:prstGeom prst="rect">
            <a:avLst/>
          </a:prstGeom>
          <a:noFill/>
        </p:spPr>
        <p:txBody>
          <a:bodyPr wrap="square" lIns="27432" tIns="0" rIns="27432" bIns="0" anchor="ctr">
            <a:spAutoFit/>
          </a:bodyPr>
          <a:lstStyle/>
          <a:p>
            <a:pPr algn="l">
              <a:lnSpc>
                <a:spcPct val="113000"/>
              </a:lnSpc>
              <a:spcAft>
                <a:spcPts val="0"/>
              </a:spcAft>
            </a:pPr>
            <a:r>
              <a:rPr sz="1500" b="0" dirty="0" err="1">
                <a:solidFill>
                  <a:srgbClr val="64766A"/>
                </a:solidFill>
                <a:latin typeface="NanumSquare"/>
              </a:rPr>
              <a:t>정보</a:t>
            </a:r>
            <a:r>
              <a:rPr sz="1500" b="0" dirty="0">
                <a:solidFill>
                  <a:srgbClr val="64766A"/>
                </a:solidFill>
                <a:latin typeface="NanumSquare"/>
              </a:rPr>
              <a:t> </a:t>
            </a:r>
            <a:r>
              <a:rPr sz="1500" b="0" dirty="0" err="1">
                <a:solidFill>
                  <a:srgbClr val="64766A"/>
                </a:solidFill>
                <a:latin typeface="NanumSquare"/>
              </a:rPr>
              <a:t>출처</a:t>
            </a:r>
            <a:r>
              <a:rPr sz="1500" b="0" dirty="0">
                <a:solidFill>
                  <a:srgbClr val="64766A"/>
                </a:solidFill>
                <a:latin typeface="NanumSquare"/>
              </a:rPr>
              <a:t> + </a:t>
            </a:r>
            <a:r>
              <a:rPr sz="1500" b="0" dirty="0" err="1">
                <a:solidFill>
                  <a:srgbClr val="64766A"/>
                </a:solidFill>
                <a:latin typeface="NanumSquare"/>
              </a:rPr>
              <a:t>최적화</a:t>
            </a:r>
            <a:r>
              <a:rPr sz="1500" b="0" dirty="0">
                <a:solidFill>
                  <a:srgbClr val="64766A"/>
                </a:solidFill>
                <a:latin typeface="NanumSquare"/>
              </a:rPr>
              <a:t> </a:t>
            </a:r>
            <a:r>
              <a:rPr sz="1500" b="0" dirty="0" err="1">
                <a:solidFill>
                  <a:srgbClr val="64766A"/>
                </a:solidFill>
                <a:latin typeface="NanumSquare"/>
              </a:rPr>
              <a:t>기록</a:t>
            </a:r>
            <a:r>
              <a:rPr sz="1500" b="0" dirty="0">
                <a:solidFill>
                  <a:srgbClr val="64766A"/>
                </a:solidFill>
                <a:latin typeface="NanumSquare"/>
              </a:rPr>
              <a:t> </a:t>
            </a:r>
          </a:p>
        </p:txBody>
      </p:sp>
      <p:sp>
        <p:nvSpPr>
          <p:cNvPr id="27" name="Rounded Rectangle 26"/>
          <p:cNvSpPr/>
          <p:nvPr/>
        </p:nvSpPr>
        <p:spPr>
          <a:xfrm>
            <a:off x="6464808" y="3090672"/>
            <a:ext cx="4873752" cy="438912"/>
          </a:xfrm>
          <a:prstGeom prst="roundRect">
            <a:avLst>
              <a:gd name="adj" fmla="val 9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Oval 27"/>
          <p:cNvSpPr/>
          <p:nvPr/>
        </p:nvSpPr>
        <p:spPr>
          <a:xfrm>
            <a:off x="6629400" y="3255264"/>
            <a:ext cx="100584" cy="100584"/>
          </a:xfrm>
          <a:prstGeom prst="ellipse">
            <a:avLst/>
          </a:prstGeom>
          <a:solidFill>
            <a:srgbClr val="3B75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6839712" y="3118104"/>
            <a:ext cx="4261104" cy="365760"/>
          </a:xfrm>
          <a:prstGeom prst="rect">
            <a:avLst/>
          </a:prstGeom>
          <a:noFill/>
        </p:spPr>
        <p:txBody>
          <a:bodyPr wrap="square" lIns="27432" tIns="0" rIns="27432" bIns="0" anchor="ctr">
            <a:spAutoFit/>
          </a:bodyPr>
          <a:lstStyle/>
          <a:p>
            <a:pPr algn="l">
              <a:lnSpc>
                <a:spcPct val="113000"/>
              </a:lnSpc>
              <a:spcAft>
                <a:spcPts val="0"/>
              </a:spcAft>
            </a:pPr>
            <a:r>
              <a:rPr sz="1500" b="0" dirty="0" err="1">
                <a:solidFill>
                  <a:srgbClr val="203B2C"/>
                </a:solidFill>
                <a:latin typeface="NanumSquare"/>
              </a:rPr>
              <a:t>리포트</a:t>
            </a:r>
            <a:r>
              <a:rPr sz="1500" b="0" dirty="0">
                <a:solidFill>
                  <a:srgbClr val="203B2C"/>
                </a:solidFill>
                <a:latin typeface="NanumSquare"/>
              </a:rPr>
              <a:t> </a:t>
            </a:r>
            <a:r>
              <a:rPr sz="1500" b="0" dirty="0" err="1">
                <a:solidFill>
                  <a:srgbClr val="203B2C"/>
                </a:solidFill>
                <a:latin typeface="NanumSquare"/>
              </a:rPr>
              <a:t>원문</a:t>
            </a:r>
            <a:endParaRPr sz="1500" b="0" dirty="0">
              <a:solidFill>
                <a:srgbClr val="203B2C"/>
              </a:solidFill>
              <a:latin typeface="NanumSquare"/>
            </a:endParaRPr>
          </a:p>
        </p:txBody>
      </p:sp>
      <p:sp>
        <p:nvSpPr>
          <p:cNvPr id="30" name="Rounded Rectangle 29"/>
          <p:cNvSpPr/>
          <p:nvPr/>
        </p:nvSpPr>
        <p:spPr>
          <a:xfrm>
            <a:off x="6464808" y="3639312"/>
            <a:ext cx="4873752" cy="438912"/>
          </a:xfrm>
          <a:prstGeom prst="roundRect">
            <a:avLst>
              <a:gd name="adj" fmla="val 9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Oval 30"/>
          <p:cNvSpPr/>
          <p:nvPr/>
        </p:nvSpPr>
        <p:spPr>
          <a:xfrm>
            <a:off x="6629400" y="3803904"/>
            <a:ext cx="100584" cy="100584"/>
          </a:xfrm>
          <a:prstGeom prst="ellipse">
            <a:avLst/>
          </a:prstGeom>
          <a:solidFill>
            <a:srgbClr val="3B75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6839712" y="3666744"/>
            <a:ext cx="4261104" cy="365760"/>
          </a:xfrm>
          <a:prstGeom prst="rect">
            <a:avLst/>
          </a:prstGeom>
          <a:noFill/>
        </p:spPr>
        <p:txBody>
          <a:bodyPr wrap="square" lIns="27432" tIns="0" rIns="27432" bIns="0" anchor="ctr">
            <a:spAutoFit/>
          </a:bodyPr>
          <a:lstStyle/>
          <a:p>
            <a:pPr algn="l">
              <a:lnSpc>
                <a:spcPct val="113000"/>
              </a:lnSpc>
              <a:spcAft>
                <a:spcPts val="0"/>
              </a:spcAft>
            </a:pPr>
            <a:r>
              <a:rPr sz="1500" b="0" dirty="0" err="1">
                <a:solidFill>
                  <a:srgbClr val="203B2C"/>
                </a:solidFill>
                <a:latin typeface="NanumSquare"/>
              </a:rPr>
              <a:t>비중·제약</a:t>
            </a:r>
            <a:r>
              <a:rPr sz="1500" b="0" dirty="0">
                <a:solidFill>
                  <a:srgbClr val="203B2C"/>
                </a:solidFill>
                <a:latin typeface="NanumSquare"/>
              </a:rPr>
              <a:t> </a:t>
            </a:r>
            <a:r>
              <a:rPr sz="1500" b="0" dirty="0" err="1">
                <a:solidFill>
                  <a:srgbClr val="203B2C"/>
                </a:solidFill>
                <a:latin typeface="NanumSquare"/>
              </a:rPr>
              <a:t>계산</a:t>
            </a:r>
            <a:r>
              <a:rPr sz="1500" b="0" dirty="0">
                <a:solidFill>
                  <a:srgbClr val="203B2C"/>
                </a:solidFill>
                <a:latin typeface="NanumSquare"/>
              </a:rPr>
              <a:t> </a:t>
            </a:r>
            <a:r>
              <a:rPr sz="1500" b="0" dirty="0" err="1">
                <a:solidFill>
                  <a:srgbClr val="203B2C"/>
                </a:solidFill>
                <a:latin typeface="NanumSquare"/>
              </a:rPr>
              <a:t>기록</a:t>
            </a:r>
            <a:endParaRPr sz="1500" b="0" dirty="0">
              <a:solidFill>
                <a:srgbClr val="203B2C"/>
              </a:solidFill>
              <a:latin typeface="NanumSquare"/>
            </a:endParaRPr>
          </a:p>
        </p:txBody>
      </p:sp>
      <p:sp>
        <p:nvSpPr>
          <p:cNvPr id="33" name="Rounded Rectangle 32"/>
          <p:cNvSpPr/>
          <p:nvPr/>
        </p:nvSpPr>
        <p:spPr>
          <a:xfrm>
            <a:off x="6464808" y="4187952"/>
            <a:ext cx="4873752" cy="438912"/>
          </a:xfrm>
          <a:prstGeom prst="roundRect">
            <a:avLst>
              <a:gd name="adj" fmla="val 9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Oval 33"/>
          <p:cNvSpPr/>
          <p:nvPr/>
        </p:nvSpPr>
        <p:spPr>
          <a:xfrm>
            <a:off x="6629400" y="4352544"/>
            <a:ext cx="100584" cy="100584"/>
          </a:xfrm>
          <a:prstGeom prst="ellipse">
            <a:avLst/>
          </a:prstGeom>
          <a:solidFill>
            <a:srgbClr val="3B75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6839712" y="4215384"/>
            <a:ext cx="4261104" cy="365760"/>
          </a:xfrm>
          <a:prstGeom prst="rect">
            <a:avLst/>
          </a:prstGeom>
          <a:noFill/>
        </p:spPr>
        <p:txBody>
          <a:bodyPr wrap="square" lIns="27432" tIns="0" rIns="27432" bIns="0" anchor="ctr">
            <a:spAutoFit/>
          </a:bodyPr>
          <a:lstStyle/>
          <a:p>
            <a:pPr algn="l">
              <a:lnSpc>
                <a:spcPct val="113000"/>
              </a:lnSpc>
              <a:spcAft>
                <a:spcPts val="0"/>
              </a:spcAft>
            </a:pPr>
            <a:r>
              <a:rPr sz="1500" b="0" dirty="0" err="1">
                <a:solidFill>
                  <a:srgbClr val="203B2C"/>
                </a:solidFill>
                <a:latin typeface="NanumSquare"/>
              </a:rPr>
              <a:t>설명</a:t>
            </a:r>
            <a:r>
              <a:rPr sz="1500" b="0" dirty="0">
                <a:solidFill>
                  <a:srgbClr val="203B2C"/>
                </a:solidFill>
                <a:latin typeface="NanumSquare"/>
              </a:rPr>
              <a:t> </a:t>
            </a:r>
            <a:r>
              <a:rPr sz="1500" b="0" dirty="0" err="1">
                <a:solidFill>
                  <a:srgbClr val="203B2C"/>
                </a:solidFill>
                <a:latin typeface="NanumSquare"/>
              </a:rPr>
              <a:t>주장과</a:t>
            </a:r>
            <a:r>
              <a:rPr sz="1500" b="0" dirty="0">
                <a:solidFill>
                  <a:srgbClr val="203B2C"/>
                </a:solidFill>
                <a:latin typeface="NanumSquare"/>
              </a:rPr>
              <a:t> </a:t>
            </a:r>
            <a:r>
              <a:rPr sz="1500" b="0" dirty="0" err="1">
                <a:solidFill>
                  <a:srgbClr val="203B2C"/>
                </a:solidFill>
                <a:latin typeface="NanumSquare"/>
              </a:rPr>
              <a:t>검증</a:t>
            </a:r>
            <a:r>
              <a:rPr sz="1500" b="0" dirty="0">
                <a:solidFill>
                  <a:srgbClr val="203B2C"/>
                </a:solidFill>
                <a:latin typeface="NanumSquare"/>
              </a:rPr>
              <a:t> </a:t>
            </a:r>
            <a:r>
              <a:rPr sz="1500" b="0" dirty="0" err="1">
                <a:solidFill>
                  <a:srgbClr val="203B2C"/>
                </a:solidFill>
                <a:latin typeface="NanumSquare"/>
              </a:rPr>
              <a:t>판정</a:t>
            </a:r>
            <a:endParaRPr sz="1500" b="0" dirty="0">
              <a:solidFill>
                <a:srgbClr val="203B2C"/>
              </a:solidFill>
              <a:latin typeface="NanumSquare"/>
            </a:endParaRPr>
          </a:p>
        </p:txBody>
      </p:sp>
      <p:sp>
        <p:nvSpPr>
          <p:cNvPr id="36" name="Rounded Rectangle 35"/>
          <p:cNvSpPr/>
          <p:nvPr/>
        </p:nvSpPr>
        <p:spPr>
          <a:xfrm>
            <a:off x="6473952" y="4983480"/>
            <a:ext cx="4846320" cy="493776"/>
          </a:xfrm>
          <a:prstGeom prst="roundRect">
            <a:avLst>
              <a:gd name="adj" fmla="val 9000"/>
            </a:avLst>
          </a:prstGeom>
          <a:solidFill>
            <a:srgbClr val="1D3B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6547104" y="5116234"/>
            <a:ext cx="4690872" cy="228268"/>
          </a:xfrm>
          <a:prstGeom prst="rect">
            <a:avLst/>
          </a:prstGeom>
          <a:noFill/>
        </p:spPr>
        <p:txBody>
          <a:bodyPr wrap="square" lIns="27432" tIns="0" rIns="27432" bIns="0" anchor="ctr">
            <a:spAutoFit/>
          </a:bodyPr>
          <a:lstStyle/>
          <a:p>
            <a:pPr algn="ctr">
              <a:lnSpc>
                <a:spcPct val="113000"/>
              </a:lnSpc>
              <a:spcAft>
                <a:spcPts val="0"/>
              </a:spcAft>
            </a:pPr>
            <a:r>
              <a:rPr sz="1400" b="1" dirty="0" err="1">
                <a:solidFill>
                  <a:srgbClr val="FFFFFF"/>
                </a:solidFill>
                <a:latin typeface="NanumSquare"/>
              </a:rPr>
              <a:t>출처·수치·설명</a:t>
            </a:r>
            <a:r>
              <a:rPr sz="1400" b="1" dirty="0">
                <a:solidFill>
                  <a:srgbClr val="FFFFFF"/>
                </a:solidFill>
                <a:latin typeface="NanumSquare"/>
              </a:rPr>
              <a:t> </a:t>
            </a:r>
            <a:r>
              <a:rPr sz="1400" b="1" dirty="0" err="1">
                <a:solidFill>
                  <a:srgbClr val="FFFFFF"/>
                </a:solidFill>
                <a:latin typeface="NanumSquare"/>
              </a:rPr>
              <a:t>충실성</a:t>
            </a:r>
            <a:endParaRPr sz="1400" b="1" dirty="0">
              <a:solidFill>
                <a:srgbClr val="FFFFFF"/>
              </a:solidFill>
              <a:latin typeface="NanumSquare"/>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57784" y="320040"/>
            <a:ext cx="10561320" cy="676656"/>
          </a:xfrm>
          <a:prstGeom prst="rect">
            <a:avLst/>
          </a:prstGeom>
          <a:noFill/>
        </p:spPr>
        <p:txBody>
          <a:bodyPr wrap="square" lIns="27432" tIns="0" rIns="27432" bIns="0" anchor="ctr">
            <a:spAutoFit/>
          </a:bodyPr>
          <a:lstStyle/>
          <a:p>
            <a:pPr algn="l">
              <a:lnSpc>
                <a:spcPct val="113000"/>
              </a:lnSpc>
              <a:spcAft>
                <a:spcPts val="0"/>
              </a:spcAft>
            </a:pPr>
            <a:r>
              <a:rPr sz="3000" b="1">
                <a:solidFill>
                  <a:srgbClr val="203B2C"/>
                </a:solidFill>
                <a:latin typeface="NanumSquare"/>
              </a:rPr>
              <a:t>실행 흐름과 수용 기준 ①</a:t>
            </a:r>
          </a:p>
        </p:txBody>
      </p:sp>
      <p:sp>
        <p:nvSpPr>
          <p:cNvPr id="3" name="TextBox 2"/>
          <p:cNvSpPr txBox="1"/>
          <p:nvPr/>
        </p:nvSpPr>
        <p:spPr>
          <a:xfrm>
            <a:off x="594360" y="987552"/>
            <a:ext cx="10561320" cy="384048"/>
          </a:xfrm>
          <a:prstGeom prst="rect">
            <a:avLst/>
          </a:prstGeom>
          <a:noFill/>
        </p:spPr>
        <p:txBody>
          <a:bodyPr wrap="square" lIns="27432" tIns="0" rIns="27432" bIns="0" anchor="ctr">
            <a:spAutoFit/>
          </a:bodyPr>
          <a:lstStyle/>
          <a:p>
            <a:pPr algn="l">
              <a:lnSpc>
                <a:spcPct val="113000"/>
              </a:lnSpc>
              <a:spcAft>
                <a:spcPts val="0"/>
              </a:spcAft>
            </a:pPr>
            <a:r>
              <a:rPr sz="1300" b="0">
                <a:solidFill>
                  <a:srgbClr val="64766A"/>
                </a:solidFill>
                <a:latin typeface="NanumSquare"/>
              </a:rPr>
              <a:t>에이전트: 수집·설명·검증  |  결정론적 코드: STABLE 추론·포트폴리오 최적화</a:t>
            </a:r>
          </a:p>
        </p:txBody>
      </p:sp>
      <p:cxnSp>
        <p:nvCxnSpPr>
          <p:cNvPr id="4" name="Connector 3"/>
          <p:cNvCxnSpPr/>
          <p:nvPr/>
        </p:nvCxnSpPr>
        <p:spPr>
          <a:xfrm>
            <a:off x="594360" y="1426464"/>
            <a:ext cx="11000232" cy="0"/>
          </a:xfrm>
          <a:prstGeom prst="line">
            <a:avLst/>
          </a:prstGeom>
          <a:ln w="12700">
            <a:solidFill>
              <a:srgbClr val="DCE6DD"/>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85216" y="6373368"/>
            <a:ext cx="5486400" cy="192024"/>
          </a:xfrm>
          <a:prstGeom prst="rect">
            <a:avLst/>
          </a:prstGeom>
          <a:noFill/>
        </p:spPr>
        <p:txBody>
          <a:bodyPr wrap="square" lIns="27432" tIns="0" rIns="27432" bIns="0" anchor="ctr">
            <a:spAutoFit/>
          </a:bodyPr>
          <a:lstStyle/>
          <a:p>
            <a:pPr algn="l">
              <a:lnSpc>
                <a:spcPct val="113000"/>
              </a:lnSpc>
              <a:spcAft>
                <a:spcPts val="0"/>
              </a:spcAft>
            </a:pPr>
            <a:r>
              <a:rPr sz="1000" b="0">
                <a:solidFill>
                  <a:srgbClr val="64766A"/>
                </a:solidFill>
                <a:latin typeface="NanumSquare"/>
              </a:rPr>
              <a:t>개미구조대  ·  AI 캡스톤 디자인</a:t>
            </a:r>
          </a:p>
        </p:txBody>
      </p:sp>
      <p:sp>
        <p:nvSpPr>
          <p:cNvPr id="6" name="TextBox 5"/>
          <p:cNvSpPr txBox="1"/>
          <p:nvPr/>
        </p:nvSpPr>
        <p:spPr>
          <a:xfrm>
            <a:off x="11109960" y="6364224"/>
            <a:ext cx="457200" cy="219456"/>
          </a:xfrm>
          <a:prstGeom prst="rect">
            <a:avLst/>
          </a:prstGeom>
          <a:noFill/>
        </p:spPr>
        <p:txBody>
          <a:bodyPr wrap="square" lIns="27432" tIns="0" rIns="27432" bIns="0" anchor="ctr">
            <a:spAutoFit/>
          </a:bodyPr>
          <a:lstStyle/>
          <a:p>
            <a:pPr algn="r">
              <a:lnSpc>
                <a:spcPct val="113000"/>
              </a:lnSpc>
              <a:spcAft>
                <a:spcPts val="0"/>
              </a:spcAft>
            </a:pPr>
            <a:r>
              <a:rPr sz="1100" b="0">
                <a:solidFill>
                  <a:srgbClr val="64766A"/>
                </a:solidFill>
                <a:latin typeface="NanumSquare"/>
              </a:rPr>
              <a:t>7</a:t>
            </a:r>
          </a:p>
        </p:txBody>
      </p:sp>
      <p:sp>
        <p:nvSpPr>
          <p:cNvPr id="7" name="Rounded Rectangle 6"/>
          <p:cNvSpPr/>
          <p:nvPr/>
        </p:nvSpPr>
        <p:spPr>
          <a:xfrm>
            <a:off x="612648" y="1645920"/>
            <a:ext cx="2551176" cy="484632"/>
          </a:xfrm>
          <a:prstGeom prst="roundRect">
            <a:avLst>
              <a:gd name="adj" fmla="val 9000"/>
            </a:avLst>
          </a:prstGeom>
          <a:solidFill>
            <a:srgbClr val="1D3B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67512" y="1709928"/>
            <a:ext cx="2441448" cy="338328"/>
          </a:xfrm>
          <a:prstGeom prst="rect">
            <a:avLst/>
          </a:prstGeom>
          <a:noFill/>
        </p:spPr>
        <p:txBody>
          <a:bodyPr wrap="square" lIns="27432" tIns="0" rIns="27432" bIns="0" anchor="ctr">
            <a:spAutoFit/>
          </a:bodyPr>
          <a:lstStyle/>
          <a:p>
            <a:pPr algn="ctr">
              <a:lnSpc>
                <a:spcPct val="113000"/>
              </a:lnSpc>
              <a:spcAft>
                <a:spcPts val="0"/>
              </a:spcAft>
            </a:pPr>
            <a:r>
              <a:rPr sz="1500" b="1">
                <a:solidFill>
                  <a:srgbClr val="FFFFFF"/>
                </a:solidFill>
                <a:latin typeface="NanumSquare"/>
              </a:rPr>
              <a:t>수집 에이전트</a:t>
            </a:r>
          </a:p>
        </p:txBody>
      </p:sp>
      <p:cxnSp>
        <p:nvCxnSpPr>
          <p:cNvPr id="9" name="Connector 8"/>
          <p:cNvCxnSpPr/>
          <p:nvPr/>
        </p:nvCxnSpPr>
        <p:spPr>
          <a:xfrm>
            <a:off x="3191256" y="1892807"/>
            <a:ext cx="201168" cy="0"/>
          </a:xfrm>
          <a:prstGeom prst="line">
            <a:avLst/>
          </a:prstGeom>
          <a:ln w="20320">
            <a:solidFill>
              <a:srgbClr val="3B7562"/>
            </a:solidFill>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3410712" y="1645920"/>
            <a:ext cx="2551176" cy="484632"/>
          </a:xfrm>
          <a:prstGeom prst="roundRect">
            <a:avLst>
              <a:gd name="adj" fmla="val 9000"/>
            </a:avLst>
          </a:prstGeom>
          <a:solidFill>
            <a:srgbClr val="EFF4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3465576" y="1709928"/>
            <a:ext cx="2441448" cy="338328"/>
          </a:xfrm>
          <a:prstGeom prst="rect">
            <a:avLst/>
          </a:prstGeom>
          <a:noFill/>
        </p:spPr>
        <p:txBody>
          <a:bodyPr wrap="square" lIns="27432" tIns="0" rIns="27432" bIns="0" anchor="ctr">
            <a:spAutoFit/>
          </a:bodyPr>
          <a:lstStyle/>
          <a:p>
            <a:pPr algn="ctr">
              <a:lnSpc>
                <a:spcPct val="113000"/>
              </a:lnSpc>
              <a:spcAft>
                <a:spcPts val="0"/>
              </a:spcAft>
            </a:pPr>
            <a:r>
              <a:rPr sz="1500" b="1">
                <a:solidFill>
                  <a:srgbClr val="203B2C"/>
                </a:solidFill>
                <a:latin typeface="NanumSquare"/>
              </a:rPr>
              <a:t>STABLE 추론</a:t>
            </a:r>
          </a:p>
        </p:txBody>
      </p:sp>
      <p:cxnSp>
        <p:nvCxnSpPr>
          <p:cNvPr id="12" name="Connector 11"/>
          <p:cNvCxnSpPr/>
          <p:nvPr/>
        </p:nvCxnSpPr>
        <p:spPr>
          <a:xfrm>
            <a:off x="5989320" y="1892807"/>
            <a:ext cx="201168" cy="0"/>
          </a:xfrm>
          <a:prstGeom prst="line">
            <a:avLst/>
          </a:prstGeom>
          <a:ln w="20320">
            <a:solidFill>
              <a:srgbClr val="3B7562"/>
            </a:solidFill>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6199632" y="1645920"/>
            <a:ext cx="2551176" cy="484632"/>
          </a:xfrm>
          <a:prstGeom prst="roundRect">
            <a:avLst>
              <a:gd name="adj" fmla="val 9000"/>
            </a:avLst>
          </a:prstGeom>
          <a:solidFill>
            <a:srgbClr val="EFF4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254496" y="1709928"/>
            <a:ext cx="2441448" cy="338328"/>
          </a:xfrm>
          <a:prstGeom prst="rect">
            <a:avLst/>
          </a:prstGeom>
          <a:noFill/>
        </p:spPr>
        <p:txBody>
          <a:bodyPr wrap="square" lIns="27432" tIns="0" rIns="27432" bIns="0" anchor="ctr">
            <a:spAutoFit/>
          </a:bodyPr>
          <a:lstStyle/>
          <a:p>
            <a:pPr algn="ctr">
              <a:lnSpc>
                <a:spcPct val="113000"/>
              </a:lnSpc>
              <a:spcAft>
                <a:spcPts val="0"/>
              </a:spcAft>
            </a:pPr>
            <a:r>
              <a:rPr sz="1500" b="1" dirty="0" err="1">
                <a:solidFill>
                  <a:srgbClr val="203B2C"/>
                </a:solidFill>
                <a:latin typeface="NanumSquare"/>
              </a:rPr>
              <a:t>최적화</a:t>
            </a:r>
            <a:r>
              <a:rPr sz="1500" b="1" dirty="0">
                <a:solidFill>
                  <a:srgbClr val="203B2C"/>
                </a:solidFill>
                <a:latin typeface="NanumSquare"/>
              </a:rPr>
              <a:t> </a:t>
            </a:r>
            <a:r>
              <a:rPr sz="1500" b="1" dirty="0" err="1">
                <a:solidFill>
                  <a:srgbClr val="203B2C"/>
                </a:solidFill>
                <a:latin typeface="NanumSquare"/>
              </a:rPr>
              <a:t>코드</a:t>
            </a:r>
            <a:endParaRPr sz="1500" b="1" dirty="0">
              <a:solidFill>
                <a:srgbClr val="203B2C"/>
              </a:solidFill>
              <a:latin typeface="NanumSquare"/>
            </a:endParaRPr>
          </a:p>
        </p:txBody>
      </p:sp>
      <p:cxnSp>
        <p:nvCxnSpPr>
          <p:cNvPr id="15" name="Connector 14"/>
          <p:cNvCxnSpPr/>
          <p:nvPr/>
        </p:nvCxnSpPr>
        <p:spPr>
          <a:xfrm>
            <a:off x="8778240" y="1892807"/>
            <a:ext cx="201168" cy="0"/>
          </a:xfrm>
          <a:prstGeom prst="line">
            <a:avLst/>
          </a:prstGeom>
          <a:ln w="20320">
            <a:solidFill>
              <a:srgbClr val="3B7562"/>
            </a:solidFill>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8988552" y="1645920"/>
            <a:ext cx="2551176" cy="484632"/>
          </a:xfrm>
          <a:prstGeom prst="roundRect">
            <a:avLst>
              <a:gd name="adj" fmla="val 9000"/>
            </a:avLst>
          </a:prstGeom>
          <a:solidFill>
            <a:srgbClr val="EFF4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9043416" y="1709928"/>
            <a:ext cx="2441448" cy="338328"/>
          </a:xfrm>
          <a:prstGeom prst="rect">
            <a:avLst/>
          </a:prstGeom>
          <a:noFill/>
        </p:spPr>
        <p:txBody>
          <a:bodyPr wrap="square" lIns="27432" tIns="0" rIns="27432" bIns="0" anchor="ctr">
            <a:spAutoFit/>
          </a:bodyPr>
          <a:lstStyle/>
          <a:p>
            <a:pPr algn="ctr">
              <a:lnSpc>
                <a:spcPct val="113000"/>
              </a:lnSpc>
              <a:spcAft>
                <a:spcPts val="0"/>
              </a:spcAft>
            </a:pPr>
            <a:r>
              <a:rPr sz="1500" b="1">
                <a:solidFill>
                  <a:srgbClr val="203B2C"/>
                </a:solidFill>
                <a:latin typeface="NanumSquare"/>
              </a:rPr>
              <a:t>설명·검증</a:t>
            </a:r>
          </a:p>
        </p:txBody>
      </p:sp>
      <p:sp>
        <p:nvSpPr>
          <p:cNvPr id="18" name="Rounded Rectangle 17"/>
          <p:cNvSpPr/>
          <p:nvPr/>
        </p:nvSpPr>
        <p:spPr>
          <a:xfrm>
            <a:off x="603504" y="2450592"/>
            <a:ext cx="5349240" cy="3236976"/>
          </a:xfrm>
          <a:prstGeom prst="roundRect">
            <a:avLst>
              <a:gd name="adj" fmla="val 9000"/>
            </a:avLst>
          </a:prstGeom>
          <a:solidFill>
            <a:srgbClr val="EFF4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859536" y="2679192"/>
            <a:ext cx="4818888" cy="411480"/>
          </a:xfrm>
          <a:prstGeom prst="rect">
            <a:avLst/>
          </a:prstGeom>
          <a:noFill/>
        </p:spPr>
        <p:txBody>
          <a:bodyPr wrap="square" lIns="27432" tIns="0" rIns="27432" bIns="0" anchor="ctr">
            <a:spAutoFit/>
          </a:bodyPr>
          <a:lstStyle/>
          <a:p>
            <a:pPr algn="l">
              <a:lnSpc>
                <a:spcPct val="113000"/>
              </a:lnSpc>
              <a:spcAft>
                <a:spcPts val="0"/>
              </a:spcAft>
            </a:pPr>
            <a:r>
              <a:rPr sz="2000" b="1">
                <a:solidFill>
                  <a:srgbClr val="203B2C"/>
                </a:solidFill>
                <a:latin typeface="NanumSquare"/>
              </a:rPr>
              <a:t>수집 에이전트</a:t>
            </a:r>
          </a:p>
        </p:txBody>
      </p:sp>
      <p:sp>
        <p:nvSpPr>
          <p:cNvPr id="20" name="TextBox 19"/>
          <p:cNvSpPr txBox="1"/>
          <p:nvPr/>
        </p:nvSpPr>
        <p:spPr>
          <a:xfrm>
            <a:off x="859536" y="3200400"/>
            <a:ext cx="2322576" cy="749808"/>
          </a:xfrm>
          <a:prstGeom prst="rect">
            <a:avLst/>
          </a:prstGeom>
          <a:noFill/>
        </p:spPr>
        <p:txBody>
          <a:bodyPr wrap="square" lIns="27432" tIns="0" rIns="27432" bIns="0" anchor="ctr">
            <a:spAutoFit/>
          </a:bodyPr>
          <a:lstStyle/>
          <a:p>
            <a:pPr algn="l">
              <a:lnSpc>
                <a:spcPct val="113000"/>
              </a:lnSpc>
              <a:spcAft>
                <a:spcPts val="0"/>
              </a:spcAft>
            </a:pPr>
            <a:r>
              <a:rPr sz="3300" b="1">
                <a:solidFill>
                  <a:srgbClr val="3B7562"/>
                </a:solidFill>
                <a:latin typeface="NanumSquare"/>
              </a:rPr>
              <a:t>0 / 50</a:t>
            </a:r>
          </a:p>
        </p:txBody>
      </p:sp>
      <p:sp>
        <p:nvSpPr>
          <p:cNvPr id="21" name="TextBox 20"/>
          <p:cNvSpPr txBox="1"/>
          <p:nvPr/>
        </p:nvSpPr>
        <p:spPr>
          <a:xfrm>
            <a:off x="2779776" y="3465576"/>
            <a:ext cx="2368296" cy="347472"/>
          </a:xfrm>
          <a:prstGeom prst="rect">
            <a:avLst/>
          </a:prstGeom>
          <a:noFill/>
        </p:spPr>
        <p:txBody>
          <a:bodyPr wrap="square" lIns="27432" tIns="0" rIns="27432" bIns="0" anchor="ctr">
            <a:spAutoFit/>
          </a:bodyPr>
          <a:lstStyle/>
          <a:p>
            <a:pPr algn="l">
              <a:lnSpc>
                <a:spcPct val="113000"/>
              </a:lnSpc>
              <a:spcAft>
                <a:spcPts val="0"/>
              </a:spcAft>
            </a:pPr>
            <a:r>
              <a:rPr sz="1500" b="0">
                <a:solidFill>
                  <a:srgbClr val="64766A"/>
                </a:solidFill>
                <a:latin typeface="NanumSquare"/>
              </a:rPr>
              <a:t>미래 정보 유입</a:t>
            </a:r>
          </a:p>
        </p:txBody>
      </p:sp>
      <p:cxnSp>
        <p:nvCxnSpPr>
          <p:cNvPr id="22" name="Connector 21"/>
          <p:cNvCxnSpPr/>
          <p:nvPr/>
        </p:nvCxnSpPr>
        <p:spPr>
          <a:xfrm>
            <a:off x="868680" y="4133087"/>
            <a:ext cx="4709160" cy="0"/>
          </a:xfrm>
          <a:prstGeom prst="line">
            <a:avLst/>
          </a:prstGeom>
          <a:ln w="12700">
            <a:solidFill>
              <a:srgbClr val="DCE6DD"/>
            </a:solidFill>
          </a:ln>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877824" y="4297680"/>
            <a:ext cx="1408176" cy="493776"/>
          </a:xfrm>
          <a:prstGeom prst="rect">
            <a:avLst/>
          </a:prstGeom>
          <a:noFill/>
        </p:spPr>
        <p:txBody>
          <a:bodyPr wrap="square" lIns="27432" tIns="0" rIns="27432" bIns="0" anchor="ctr">
            <a:spAutoFit/>
          </a:bodyPr>
          <a:lstStyle/>
          <a:p>
            <a:pPr algn="l">
              <a:lnSpc>
                <a:spcPct val="113000"/>
              </a:lnSpc>
              <a:spcAft>
                <a:spcPts val="0"/>
              </a:spcAft>
            </a:pPr>
            <a:r>
              <a:rPr sz="2200" b="1">
                <a:solidFill>
                  <a:srgbClr val="203B2C"/>
                </a:solidFill>
                <a:latin typeface="NanumSquare"/>
              </a:rPr>
              <a:t>100%</a:t>
            </a:r>
          </a:p>
        </p:txBody>
      </p:sp>
      <p:sp>
        <p:nvSpPr>
          <p:cNvPr id="24" name="TextBox 23"/>
          <p:cNvSpPr txBox="1"/>
          <p:nvPr/>
        </p:nvSpPr>
        <p:spPr>
          <a:xfrm>
            <a:off x="2359152" y="4398264"/>
            <a:ext cx="3172968" cy="292608"/>
          </a:xfrm>
          <a:prstGeom prst="rect">
            <a:avLst/>
          </a:prstGeom>
          <a:noFill/>
        </p:spPr>
        <p:txBody>
          <a:bodyPr wrap="square" lIns="27432" tIns="0" rIns="27432" bIns="0" anchor="ctr">
            <a:spAutoFit/>
          </a:bodyPr>
          <a:lstStyle/>
          <a:p>
            <a:pPr algn="l">
              <a:lnSpc>
                <a:spcPct val="113000"/>
              </a:lnSpc>
              <a:spcAft>
                <a:spcPts val="0"/>
              </a:spcAft>
            </a:pPr>
            <a:r>
              <a:rPr sz="1500" b="0" dirty="0" err="1">
                <a:solidFill>
                  <a:srgbClr val="64766A"/>
                </a:solidFill>
                <a:latin typeface="NanumSquare"/>
              </a:rPr>
              <a:t>사용</a:t>
            </a:r>
            <a:r>
              <a:rPr sz="1500" b="0" dirty="0">
                <a:solidFill>
                  <a:srgbClr val="64766A"/>
                </a:solidFill>
                <a:latin typeface="NanumSquare"/>
              </a:rPr>
              <a:t> </a:t>
            </a:r>
            <a:r>
              <a:rPr sz="1500" b="0" dirty="0" err="1">
                <a:solidFill>
                  <a:srgbClr val="64766A"/>
                </a:solidFill>
                <a:latin typeface="NanumSquare"/>
              </a:rPr>
              <a:t>리포트</a:t>
            </a:r>
            <a:r>
              <a:rPr sz="1500" b="0" dirty="0">
                <a:solidFill>
                  <a:srgbClr val="64766A"/>
                </a:solidFill>
                <a:latin typeface="NanumSquare"/>
              </a:rPr>
              <a:t> </a:t>
            </a:r>
            <a:r>
              <a:rPr sz="1500" b="0" dirty="0" err="1">
                <a:solidFill>
                  <a:srgbClr val="64766A"/>
                </a:solidFill>
                <a:latin typeface="NanumSquare"/>
              </a:rPr>
              <a:t>출처</a:t>
            </a:r>
            <a:r>
              <a:rPr sz="1500" b="0" dirty="0">
                <a:solidFill>
                  <a:srgbClr val="64766A"/>
                </a:solidFill>
                <a:latin typeface="NanumSquare"/>
              </a:rPr>
              <a:t> </a:t>
            </a:r>
            <a:r>
              <a:rPr sz="1500" b="0" dirty="0" err="1">
                <a:solidFill>
                  <a:srgbClr val="64766A"/>
                </a:solidFill>
                <a:latin typeface="NanumSquare"/>
              </a:rPr>
              <a:t>연결</a:t>
            </a:r>
            <a:endParaRPr sz="1500" b="0" dirty="0">
              <a:solidFill>
                <a:srgbClr val="64766A"/>
              </a:solidFill>
              <a:latin typeface="NanumSquare"/>
            </a:endParaRPr>
          </a:p>
        </p:txBody>
      </p:sp>
      <p:sp>
        <p:nvSpPr>
          <p:cNvPr id="25" name="TextBox 24"/>
          <p:cNvSpPr txBox="1"/>
          <p:nvPr/>
        </p:nvSpPr>
        <p:spPr>
          <a:xfrm>
            <a:off x="877824" y="4946904"/>
            <a:ext cx="1920240" cy="438912"/>
          </a:xfrm>
          <a:prstGeom prst="rect">
            <a:avLst/>
          </a:prstGeom>
          <a:noFill/>
        </p:spPr>
        <p:txBody>
          <a:bodyPr wrap="square" lIns="27432" tIns="0" rIns="27432" bIns="0" anchor="ctr">
            <a:spAutoFit/>
          </a:bodyPr>
          <a:lstStyle/>
          <a:p>
            <a:pPr algn="l">
              <a:lnSpc>
                <a:spcPct val="113000"/>
              </a:lnSpc>
              <a:spcAft>
                <a:spcPts val="0"/>
              </a:spcAft>
            </a:pPr>
            <a:r>
              <a:rPr sz="2200" b="1" dirty="0">
                <a:solidFill>
                  <a:srgbClr val="203B2C"/>
                </a:solidFill>
                <a:latin typeface="NanumSquare"/>
              </a:rPr>
              <a:t>≥99 / 100</a:t>
            </a:r>
          </a:p>
        </p:txBody>
      </p:sp>
      <p:sp>
        <p:nvSpPr>
          <p:cNvPr id="26" name="TextBox 25"/>
          <p:cNvSpPr txBox="1"/>
          <p:nvPr/>
        </p:nvSpPr>
        <p:spPr>
          <a:xfrm>
            <a:off x="2770632" y="5029200"/>
            <a:ext cx="2642616" cy="274320"/>
          </a:xfrm>
          <a:prstGeom prst="rect">
            <a:avLst/>
          </a:prstGeom>
          <a:noFill/>
        </p:spPr>
        <p:txBody>
          <a:bodyPr wrap="square" lIns="27432" tIns="0" rIns="27432" bIns="0" anchor="ctr">
            <a:spAutoFit/>
          </a:bodyPr>
          <a:lstStyle/>
          <a:p>
            <a:pPr algn="l">
              <a:lnSpc>
                <a:spcPct val="113000"/>
              </a:lnSpc>
              <a:spcAft>
                <a:spcPts val="0"/>
              </a:spcAft>
            </a:pPr>
            <a:r>
              <a:rPr sz="1500" b="0">
                <a:solidFill>
                  <a:srgbClr val="64766A"/>
                </a:solidFill>
                <a:latin typeface="NanumSquare"/>
              </a:rPr>
              <a:t>추정치 원문 대조</a:t>
            </a:r>
          </a:p>
        </p:txBody>
      </p:sp>
      <p:sp>
        <p:nvSpPr>
          <p:cNvPr id="27" name="Rounded Rectangle 26"/>
          <p:cNvSpPr/>
          <p:nvPr/>
        </p:nvSpPr>
        <p:spPr>
          <a:xfrm>
            <a:off x="6208776" y="2450592"/>
            <a:ext cx="5358384" cy="3236976"/>
          </a:xfrm>
          <a:prstGeom prst="roundRect">
            <a:avLst>
              <a:gd name="adj" fmla="val 9000"/>
            </a:avLst>
          </a:prstGeom>
          <a:solidFill>
            <a:srgbClr val="F7F9F7"/>
          </a:solidFill>
          <a:ln w="10160">
            <a:solidFill>
              <a:srgbClr val="DCE6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6446520" y="2679192"/>
            <a:ext cx="4800600" cy="393192"/>
          </a:xfrm>
          <a:prstGeom prst="rect">
            <a:avLst/>
          </a:prstGeom>
          <a:noFill/>
        </p:spPr>
        <p:txBody>
          <a:bodyPr wrap="square" lIns="27432" tIns="0" rIns="27432" bIns="0" anchor="ctr">
            <a:spAutoFit/>
          </a:bodyPr>
          <a:lstStyle/>
          <a:p>
            <a:pPr algn="l">
              <a:lnSpc>
                <a:spcPct val="113000"/>
              </a:lnSpc>
              <a:spcAft>
                <a:spcPts val="0"/>
              </a:spcAft>
            </a:pPr>
            <a:r>
              <a:rPr sz="2000" b="1" dirty="0" err="1">
                <a:solidFill>
                  <a:srgbClr val="203B2C"/>
                </a:solidFill>
                <a:latin typeface="NanumSquare"/>
              </a:rPr>
              <a:t>모델·최적화</a:t>
            </a:r>
            <a:r>
              <a:rPr sz="2000" b="1" dirty="0">
                <a:solidFill>
                  <a:srgbClr val="203B2C"/>
                </a:solidFill>
                <a:latin typeface="NanumSquare"/>
              </a:rPr>
              <a:t> </a:t>
            </a:r>
            <a:r>
              <a:rPr sz="2000" b="1" dirty="0" err="1">
                <a:solidFill>
                  <a:srgbClr val="203B2C"/>
                </a:solidFill>
                <a:latin typeface="NanumSquare"/>
              </a:rPr>
              <a:t>코드</a:t>
            </a:r>
            <a:endParaRPr sz="2000" b="1" dirty="0">
              <a:solidFill>
                <a:srgbClr val="203B2C"/>
              </a:solidFill>
              <a:latin typeface="NanumSquare"/>
            </a:endParaRPr>
          </a:p>
        </p:txBody>
      </p:sp>
      <p:sp>
        <p:nvSpPr>
          <p:cNvPr id="29" name="TextBox 28"/>
          <p:cNvSpPr txBox="1"/>
          <p:nvPr/>
        </p:nvSpPr>
        <p:spPr>
          <a:xfrm>
            <a:off x="6446520" y="3337560"/>
            <a:ext cx="4818888" cy="420624"/>
          </a:xfrm>
          <a:prstGeom prst="rect">
            <a:avLst/>
          </a:prstGeom>
          <a:noFill/>
        </p:spPr>
        <p:txBody>
          <a:bodyPr wrap="square" lIns="27432" tIns="0" rIns="27432" bIns="0" anchor="ctr">
            <a:spAutoFit/>
          </a:bodyPr>
          <a:lstStyle/>
          <a:p>
            <a:pPr algn="l">
              <a:lnSpc>
                <a:spcPct val="113000"/>
              </a:lnSpc>
              <a:spcAft>
                <a:spcPts val="0"/>
              </a:spcAft>
            </a:pPr>
            <a:r>
              <a:rPr sz="1700" b="0" dirty="0" err="1">
                <a:solidFill>
                  <a:srgbClr val="203B2C"/>
                </a:solidFill>
                <a:latin typeface="NanumSquare"/>
              </a:rPr>
              <a:t>동일</a:t>
            </a:r>
            <a:r>
              <a:rPr sz="1700" b="0" dirty="0">
                <a:solidFill>
                  <a:srgbClr val="203B2C"/>
                </a:solidFill>
                <a:latin typeface="NanumSquare"/>
              </a:rPr>
              <a:t> </a:t>
            </a:r>
            <a:r>
              <a:rPr sz="1700" b="0" dirty="0" err="1">
                <a:solidFill>
                  <a:srgbClr val="203B2C"/>
                </a:solidFill>
                <a:latin typeface="NanumSquare"/>
              </a:rPr>
              <a:t>입력·시드·설정</a:t>
            </a:r>
            <a:r>
              <a:rPr sz="1700" b="0" dirty="0">
                <a:solidFill>
                  <a:srgbClr val="203B2C"/>
                </a:solidFill>
                <a:latin typeface="NanumSquare"/>
              </a:rPr>
              <a:t> → </a:t>
            </a:r>
            <a:r>
              <a:rPr sz="1700" b="0" dirty="0" err="1">
                <a:solidFill>
                  <a:srgbClr val="203B2C"/>
                </a:solidFill>
                <a:latin typeface="NanumSquare"/>
              </a:rPr>
              <a:t>동일</a:t>
            </a:r>
            <a:r>
              <a:rPr sz="1700" b="0" dirty="0">
                <a:solidFill>
                  <a:srgbClr val="203B2C"/>
                </a:solidFill>
                <a:latin typeface="NanumSquare"/>
              </a:rPr>
              <a:t> </a:t>
            </a:r>
            <a:r>
              <a:rPr sz="1700" b="0" dirty="0" err="1">
                <a:solidFill>
                  <a:srgbClr val="203B2C"/>
                </a:solidFill>
                <a:latin typeface="NanumSquare"/>
              </a:rPr>
              <a:t>결과</a:t>
            </a:r>
            <a:endParaRPr sz="1700" b="0" dirty="0">
              <a:solidFill>
                <a:srgbClr val="203B2C"/>
              </a:solidFill>
              <a:latin typeface="NanumSquare"/>
            </a:endParaRPr>
          </a:p>
        </p:txBody>
      </p:sp>
      <p:cxnSp>
        <p:nvCxnSpPr>
          <p:cNvPr id="30" name="Connector 29"/>
          <p:cNvCxnSpPr/>
          <p:nvPr/>
        </p:nvCxnSpPr>
        <p:spPr>
          <a:xfrm>
            <a:off x="6446520" y="3877056"/>
            <a:ext cx="4855464" cy="0"/>
          </a:xfrm>
          <a:prstGeom prst="line">
            <a:avLst/>
          </a:prstGeom>
          <a:ln w="12700">
            <a:solidFill>
              <a:srgbClr val="DCE6DD"/>
            </a:solidFill>
          </a:ln>
        </p:spPr>
        <p:style>
          <a:lnRef idx="2">
            <a:schemeClr val="accent1"/>
          </a:lnRef>
          <a:fillRef idx="0">
            <a:schemeClr val="accent1"/>
          </a:fillRef>
          <a:effectRef idx="1">
            <a:schemeClr val="accent1"/>
          </a:effectRef>
          <a:fontRef idx="minor">
            <a:schemeClr val="tx1"/>
          </a:fontRef>
        </p:style>
      </p:cxnSp>
      <p:sp>
        <p:nvSpPr>
          <p:cNvPr id="31" name="TextBox 30"/>
          <p:cNvSpPr txBox="1"/>
          <p:nvPr/>
        </p:nvSpPr>
        <p:spPr>
          <a:xfrm>
            <a:off x="6446520" y="4096512"/>
            <a:ext cx="4901184" cy="365760"/>
          </a:xfrm>
          <a:prstGeom prst="rect">
            <a:avLst/>
          </a:prstGeom>
          <a:noFill/>
        </p:spPr>
        <p:txBody>
          <a:bodyPr wrap="square" lIns="27432" tIns="0" rIns="27432" bIns="0" anchor="ctr">
            <a:spAutoFit/>
          </a:bodyPr>
          <a:lstStyle/>
          <a:p>
            <a:pPr algn="l">
              <a:lnSpc>
                <a:spcPct val="113000"/>
              </a:lnSpc>
              <a:spcAft>
                <a:spcPts val="0"/>
              </a:spcAft>
            </a:pPr>
            <a:r>
              <a:rPr sz="1700" b="0" dirty="0" err="1">
                <a:solidFill>
                  <a:srgbClr val="203B2C"/>
                </a:solidFill>
                <a:latin typeface="NanumSquare"/>
              </a:rPr>
              <a:t>비중</a:t>
            </a:r>
            <a:r>
              <a:rPr sz="1700" b="0" dirty="0">
                <a:solidFill>
                  <a:srgbClr val="203B2C"/>
                </a:solidFill>
                <a:latin typeface="NanumSquare"/>
              </a:rPr>
              <a:t> </a:t>
            </a:r>
            <a:r>
              <a:rPr sz="1700" b="0" dirty="0" err="1">
                <a:solidFill>
                  <a:srgbClr val="203B2C"/>
                </a:solidFill>
                <a:latin typeface="NanumSquare"/>
              </a:rPr>
              <a:t>합계</a:t>
            </a:r>
            <a:r>
              <a:rPr sz="1700" b="0" dirty="0">
                <a:solidFill>
                  <a:srgbClr val="203B2C"/>
                </a:solidFill>
                <a:latin typeface="NanumSquare"/>
              </a:rPr>
              <a:t> = 1 (</a:t>
            </a:r>
            <a:r>
              <a:rPr sz="1700" b="0" dirty="0" err="1">
                <a:solidFill>
                  <a:srgbClr val="203B2C"/>
                </a:solidFill>
                <a:latin typeface="NanumSquare"/>
              </a:rPr>
              <a:t>현금</a:t>
            </a:r>
            <a:r>
              <a:rPr sz="1700" b="0" dirty="0">
                <a:solidFill>
                  <a:srgbClr val="203B2C"/>
                </a:solidFill>
                <a:latin typeface="NanumSquare"/>
              </a:rPr>
              <a:t> </a:t>
            </a:r>
            <a:r>
              <a:rPr sz="1700" b="0" dirty="0" err="1">
                <a:solidFill>
                  <a:srgbClr val="203B2C"/>
                </a:solidFill>
                <a:latin typeface="NanumSquare"/>
              </a:rPr>
              <a:t>포함</a:t>
            </a:r>
            <a:r>
              <a:rPr sz="1700" b="0" dirty="0">
                <a:solidFill>
                  <a:srgbClr val="203B2C"/>
                </a:solidFill>
                <a:latin typeface="NanumSquare"/>
              </a:rPr>
              <a:t>)</a:t>
            </a:r>
          </a:p>
        </p:txBody>
      </p:sp>
      <p:sp>
        <p:nvSpPr>
          <p:cNvPr id="32" name="TextBox 31"/>
          <p:cNvSpPr txBox="1"/>
          <p:nvPr/>
        </p:nvSpPr>
        <p:spPr>
          <a:xfrm>
            <a:off x="6446520" y="4672584"/>
            <a:ext cx="4873752" cy="603504"/>
          </a:xfrm>
          <a:prstGeom prst="rect">
            <a:avLst/>
          </a:prstGeom>
          <a:noFill/>
        </p:spPr>
        <p:txBody>
          <a:bodyPr wrap="square" lIns="27432" tIns="0" rIns="27432" bIns="0" anchor="ctr">
            <a:spAutoFit/>
          </a:bodyPr>
          <a:lstStyle/>
          <a:p>
            <a:pPr algn="l">
              <a:lnSpc>
                <a:spcPct val="113000"/>
              </a:lnSpc>
              <a:spcAft>
                <a:spcPts val="0"/>
              </a:spcAft>
            </a:pPr>
            <a:r>
              <a:rPr sz="1600" b="1">
                <a:solidFill>
                  <a:srgbClr val="203B2C"/>
                </a:solidFill>
                <a:latin typeface="NanumSquare"/>
              </a:rPr>
              <a:t>롱온리·종목 상한·섹터 상한 위반 0건</a:t>
            </a:r>
          </a:p>
        </p:txBody>
      </p:sp>
      <p:sp>
        <p:nvSpPr>
          <p:cNvPr id="33" name="TextBox 32"/>
          <p:cNvSpPr txBox="1"/>
          <p:nvPr/>
        </p:nvSpPr>
        <p:spPr>
          <a:xfrm>
            <a:off x="6446520" y="5294376"/>
            <a:ext cx="4882896" cy="292608"/>
          </a:xfrm>
          <a:prstGeom prst="rect">
            <a:avLst/>
          </a:prstGeom>
          <a:noFill/>
        </p:spPr>
        <p:txBody>
          <a:bodyPr wrap="square" lIns="27432" tIns="0" rIns="27432" bIns="0" anchor="ctr">
            <a:spAutoFit/>
          </a:bodyPr>
          <a:lstStyle/>
          <a:p>
            <a:pPr algn="l">
              <a:lnSpc>
                <a:spcPct val="113000"/>
              </a:lnSpc>
              <a:spcAft>
                <a:spcPts val="0"/>
              </a:spcAft>
            </a:pPr>
            <a:r>
              <a:rPr sz="1400" b="0">
                <a:solidFill>
                  <a:srgbClr val="64766A"/>
                </a:solidFill>
                <a:latin typeface="NanumSquare"/>
              </a:rPr>
              <a:t>해가 없으면 제약을 임의로 완화하지 않음</a:t>
            </a:r>
          </a:p>
        </p:txBody>
      </p:sp>
      <p:sp>
        <p:nvSpPr>
          <p:cNvPr id="34" name="TextBox 33"/>
          <p:cNvSpPr txBox="1"/>
          <p:nvPr/>
        </p:nvSpPr>
        <p:spPr>
          <a:xfrm>
            <a:off x="768096" y="5861304"/>
            <a:ext cx="10661904" cy="265176"/>
          </a:xfrm>
          <a:prstGeom prst="rect">
            <a:avLst/>
          </a:prstGeom>
          <a:noFill/>
        </p:spPr>
        <p:txBody>
          <a:bodyPr wrap="square" lIns="27432" tIns="0" rIns="27432" bIns="0" anchor="ctr">
            <a:spAutoFit/>
          </a:bodyPr>
          <a:lstStyle/>
          <a:p>
            <a:pPr algn="l">
              <a:lnSpc>
                <a:spcPct val="113000"/>
              </a:lnSpc>
              <a:spcAft>
                <a:spcPts val="0"/>
              </a:spcAft>
            </a:pPr>
            <a:r>
              <a:rPr sz="1300" b="1" dirty="0" err="1">
                <a:solidFill>
                  <a:srgbClr val="3B7562"/>
                </a:solidFill>
                <a:latin typeface="NanumSquare"/>
              </a:rPr>
              <a:t>기준시점</a:t>
            </a:r>
            <a:r>
              <a:rPr sz="1300" b="1" dirty="0">
                <a:solidFill>
                  <a:srgbClr val="3B7562"/>
                </a:solidFill>
                <a:latin typeface="NanumSquare"/>
              </a:rPr>
              <a:t> </a:t>
            </a:r>
            <a:r>
              <a:rPr sz="1300" b="1" dirty="0" err="1">
                <a:solidFill>
                  <a:srgbClr val="3B7562"/>
                </a:solidFill>
                <a:latin typeface="NanumSquare"/>
              </a:rPr>
              <a:t>누락</a:t>
            </a:r>
            <a:r>
              <a:rPr sz="1300" b="1" dirty="0">
                <a:solidFill>
                  <a:srgbClr val="3B7562"/>
                </a:solidFill>
                <a:latin typeface="NanumSquare"/>
              </a:rPr>
              <a:t> → </a:t>
            </a:r>
            <a:r>
              <a:rPr sz="1300" b="1" dirty="0" err="1">
                <a:solidFill>
                  <a:srgbClr val="3B7562"/>
                </a:solidFill>
                <a:latin typeface="NanumSquare"/>
              </a:rPr>
              <a:t>실행</a:t>
            </a:r>
            <a:r>
              <a:rPr sz="1300" b="1" dirty="0">
                <a:solidFill>
                  <a:srgbClr val="3B7562"/>
                </a:solidFill>
                <a:latin typeface="NanumSquare"/>
              </a:rPr>
              <a:t> </a:t>
            </a:r>
            <a:r>
              <a:rPr sz="1300" b="1" dirty="0" err="1">
                <a:solidFill>
                  <a:srgbClr val="3B7562"/>
                </a:solidFill>
                <a:latin typeface="NanumSquare"/>
              </a:rPr>
              <a:t>거부</a:t>
            </a:r>
            <a:r>
              <a:rPr sz="1300" b="1" dirty="0">
                <a:solidFill>
                  <a:srgbClr val="3B7562"/>
                </a:solidFill>
                <a:latin typeface="NanumSquare"/>
              </a:rPr>
              <a:t>    ·    </a:t>
            </a:r>
            <a:r>
              <a:rPr sz="1300" b="1" dirty="0" err="1">
                <a:solidFill>
                  <a:srgbClr val="3B7562"/>
                </a:solidFill>
                <a:latin typeface="NanumSquare"/>
              </a:rPr>
              <a:t>확인되지</a:t>
            </a:r>
            <a:r>
              <a:rPr sz="1300" b="1" dirty="0">
                <a:solidFill>
                  <a:srgbClr val="3B7562"/>
                </a:solidFill>
                <a:latin typeface="NanumSquare"/>
              </a:rPr>
              <a:t> </a:t>
            </a:r>
            <a:r>
              <a:rPr sz="1300" b="1" dirty="0" err="1">
                <a:solidFill>
                  <a:srgbClr val="3B7562"/>
                </a:solidFill>
                <a:latin typeface="NanumSquare"/>
              </a:rPr>
              <a:t>않은</a:t>
            </a:r>
            <a:r>
              <a:rPr sz="1300" b="1" dirty="0">
                <a:solidFill>
                  <a:srgbClr val="3B7562"/>
                </a:solidFill>
                <a:latin typeface="NanumSquare"/>
              </a:rPr>
              <a:t> </a:t>
            </a:r>
            <a:r>
              <a:rPr sz="1300" b="1" dirty="0" err="1">
                <a:solidFill>
                  <a:srgbClr val="3B7562"/>
                </a:solidFill>
                <a:latin typeface="NanumSquare"/>
              </a:rPr>
              <a:t>리포트</a:t>
            </a:r>
            <a:r>
              <a:rPr sz="1300" b="1" dirty="0">
                <a:solidFill>
                  <a:srgbClr val="3B7562"/>
                </a:solidFill>
                <a:latin typeface="NanumSquare"/>
              </a:rPr>
              <a:t> </a:t>
            </a:r>
            <a:r>
              <a:rPr sz="1300" b="1" dirty="0" err="1">
                <a:solidFill>
                  <a:srgbClr val="3B7562"/>
                </a:solidFill>
                <a:latin typeface="NanumSquare"/>
              </a:rPr>
              <a:t>수치</a:t>
            </a:r>
            <a:r>
              <a:rPr sz="1300" b="1" dirty="0">
                <a:solidFill>
                  <a:srgbClr val="3B7562"/>
                </a:solidFill>
                <a:latin typeface="NanumSquare"/>
              </a:rPr>
              <a:t> </a:t>
            </a:r>
            <a:r>
              <a:rPr sz="1300" b="1" dirty="0" err="1">
                <a:solidFill>
                  <a:srgbClr val="3B7562"/>
                </a:solidFill>
                <a:latin typeface="NanumSquare"/>
              </a:rPr>
              <a:t>사용</a:t>
            </a:r>
            <a:r>
              <a:rPr sz="1300" b="1" dirty="0">
                <a:solidFill>
                  <a:srgbClr val="3B7562"/>
                </a:solidFill>
                <a:latin typeface="NanumSquare"/>
              </a:rPr>
              <a:t> </a:t>
            </a:r>
            <a:r>
              <a:rPr sz="1300" b="1" dirty="0" err="1">
                <a:solidFill>
                  <a:srgbClr val="3B7562"/>
                </a:solidFill>
                <a:latin typeface="NanumSquare"/>
              </a:rPr>
              <a:t>금지</a:t>
            </a:r>
            <a:endParaRPr sz="1300" b="1" dirty="0">
              <a:solidFill>
                <a:srgbClr val="3B7562"/>
              </a:solidFill>
              <a:latin typeface="NanumSquare"/>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57784" y="320040"/>
            <a:ext cx="10561320" cy="676656"/>
          </a:xfrm>
          <a:prstGeom prst="rect">
            <a:avLst/>
          </a:prstGeom>
          <a:noFill/>
        </p:spPr>
        <p:txBody>
          <a:bodyPr wrap="square" lIns="27432" tIns="0" rIns="27432" bIns="0" anchor="ctr">
            <a:spAutoFit/>
          </a:bodyPr>
          <a:lstStyle/>
          <a:p>
            <a:pPr algn="l">
              <a:lnSpc>
                <a:spcPct val="113000"/>
              </a:lnSpc>
              <a:spcAft>
                <a:spcPts val="0"/>
              </a:spcAft>
            </a:pPr>
            <a:r>
              <a:rPr sz="3000" b="1">
                <a:solidFill>
                  <a:srgbClr val="203B2C"/>
                </a:solidFill>
                <a:latin typeface="NanumSquare"/>
              </a:rPr>
              <a:t>설명 에이전트: 결정 근거를 빠짐없이 연결</a:t>
            </a:r>
          </a:p>
        </p:txBody>
      </p:sp>
      <p:sp>
        <p:nvSpPr>
          <p:cNvPr id="3" name="TextBox 2"/>
          <p:cNvSpPr txBox="1"/>
          <p:nvPr/>
        </p:nvSpPr>
        <p:spPr>
          <a:xfrm>
            <a:off x="594360" y="987552"/>
            <a:ext cx="10561320" cy="384048"/>
          </a:xfrm>
          <a:prstGeom prst="rect">
            <a:avLst/>
          </a:prstGeom>
          <a:noFill/>
        </p:spPr>
        <p:txBody>
          <a:bodyPr wrap="square" lIns="27432" tIns="0" rIns="27432" bIns="0" anchor="ctr">
            <a:spAutoFit/>
          </a:bodyPr>
          <a:lstStyle/>
          <a:p>
            <a:pPr algn="l">
              <a:lnSpc>
                <a:spcPct val="113000"/>
              </a:lnSpc>
              <a:spcAft>
                <a:spcPts val="0"/>
              </a:spcAft>
            </a:pPr>
            <a:r>
              <a:rPr sz="1300" b="0">
                <a:solidFill>
                  <a:srgbClr val="64766A"/>
                </a:solidFill>
                <a:latin typeface="NanumSquare"/>
              </a:rPr>
              <a:t>명확한 작성 범위와 출처 추적이 완료 조건</a:t>
            </a:r>
          </a:p>
        </p:txBody>
      </p:sp>
      <p:cxnSp>
        <p:nvCxnSpPr>
          <p:cNvPr id="4" name="Connector 3"/>
          <p:cNvCxnSpPr/>
          <p:nvPr/>
        </p:nvCxnSpPr>
        <p:spPr>
          <a:xfrm>
            <a:off x="594360" y="1426464"/>
            <a:ext cx="11000232" cy="0"/>
          </a:xfrm>
          <a:prstGeom prst="line">
            <a:avLst/>
          </a:prstGeom>
          <a:ln w="12700">
            <a:solidFill>
              <a:srgbClr val="DCE6DD"/>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85216" y="6373368"/>
            <a:ext cx="5486400" cy="192024"/>
          </a:xfrm>
          <a:prstGeom prst="rect">
            <a:avLst/>
          </a:prstGeom>
          <a:noFill/>
        </p:spPr>
        <p:txBody>
          <a:bodyPr wrap="square" lIns="27432" tIns="0" rIns="27432" bIns="0" anchor="ctr">
            <a:spAutoFit/>
          </a:bodyPr>
          <a:lstStyle/>
          <a:p>
            <a:pPr algn="l">
              <a:lnSpc>
                <a:spcPct val="113000"/>
              </a:lnSpc>
              <a:spcAft>
                <a:spcPts val="0"/>
              </a:spcAft>
            </a:pPr>
            <a:r>
              <a:rPr sz="1000" b="0">
                <a:solidFill>
                  <a:srgbClr val="64766A"/>
                </a:solidFill>
                <a:latin typeface="NanumSquare"/>
              </a:rPr>
              <a:t>개미구조대  ·  AI 캡스톤 디자인</a:t>
            </a:r>
          </a:p>
        </p:txBody>
      </p:sp>
      <p:sp>
        <p:nvSpPr>
          <p:cNvPr id="6" name="TextBox 5"/>
          <p:cNvSpPr txBox="1"/>
          <p:nvPr/>
        </p:nvSpPr>
        <p:spPr>
          <a:xfrm>
            <a:off x="11109960" y="6364224"/>
            <a:ext cx="457200" cy="219456"/>
          </a:xfrm>
          <a:prstGeom prst="rect">
            <a:avLst/>
          </a:prstGeom>
          <a:noFill/>
        </p:spPr>
        <p:txBody>
          <a:bodyPr wrap="square" lIns="27432" tIns="0" rIns="27432" bIns="0" anchor="ctr">
            <a:spAutoFit/>
          </a:bodyPr>
          <a:lstStyle/>
          <a:p>
            <a:pPr algn="r">
              <a:lnSpc>
                <a:spcPct val="113000"/>
              </a:lnSpc>
              <a:spcAft>
                <a:spcPts val="0"/>
              </a:spcAft>
            </a:pPr>
            <a:r>
              <a:rPr sz="1100" b="0">
                <a:solidFill>
                  <a:srgbClr val="64766A"/>
                </a:solidFill>
                <a:latin typeface="NanumSquare"/>
              </a:rPr>
              <a:t>8</a:t>
            </a:r>
          </a:p>
        </p:txBody>
      </p:sp>
      <p:sp>
        <p:nvSpPr>
          <p:cNvPr id="7" name="Rounded Rectangle 6"/>
          <p:cNvSpPr/>
          <p:nvPr/>
        </p:nvSpPr>
        <p:spPr>
          <a:xfrm>
            <a:off x="603504" y="1636776"/>
            <a:ext cx="6830568" cy="4105656"/>
          </a:xfrm>
          <a:prstGeom prst="roundRect">
            <a:avLst>
              <a:gd name="adj" fmla="val 9000"/>
            </a:avLst>
          </a:prstGeom>
          <a:solidFill>
            <a:srgbClr val="EFF4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896112" y="1847088"/>
            <a:ext cx="6281928" cy="402336"/>
          </a:xfrm>
          <a:prstGeom prst="rect">
            <a:avLst/>
          </a:prstGeom>
          <a:noFill/>
        </p:spPr>
        <p:txBody>
          <a:bodyPr wrap="square" lIns="27432" tIns="0" rIns="27432" bIns="0" anchor="ctr">
            <a:spAutoFit/>
          </a:bodyPr>
          <a:lstStyle/>
          <a:p>
            <a:pPr algn="l">
              <a:lnSpc>
                <a:spcPct val="113000"/>
              </a:lnSpc>
              <a:spcAft>
                <a:spcPts val="0"/>
              </a:spcAft>
            </a:pPr>
            <a:r>
              <a:rPr sz="2000" b="1" dirty="0" err="1">
                <a:solidFill>
                  <a:srgbClr val="203B2C"/>
                </a:solidFill>
                <a:latin typeface="NanumSquare"/>
              </a:rPr>
              <a:t>필수</a:t>
            </a:r>
            <a:r>
              <a:rPr sz="2000" b="1" dirty="0">
                <a:solidFill>
                  <a:srgbClr val="203B2C"/>
                </a:solidFill>
                <a:latin typeface="NanumSquare"/>
              </a:rPr>
              <a:t> </a:t>
            </a:r>
            <a:r>
              <a:rPr sz="2000" b="1" dirty="0" err="1">
                <a:solidFill>
                  <a:srgbClr val="203B2C"/>
                </a:solidFill>
                <a:latin typeface="NanumSquare"/>
              </a:rPr>
              <a:t>설명</a:t>
            </a:r>
            <a:r>
              <a:rPr sz="2000" b="1" dirty="0">
                <a:solidFill>
                  <a:srgbClr val="203B2C"/>
                </a:solidFill>
                <a:latin typeface="NanumSquare"/>
              </a:rPr>
              <a:t> </a:t>
            </a:r>
            <a:r>
              <a:rPr sz="2000" b="1" dirty="0" err="1">
                <a:solidFill>
                  <a:srgbClr val="203B2C"/>
                </a:solidFill>
                <a:latin typeface="NanumSquare"/>
              </a:rPr>
              <a:t>항목</a:t>
            </a:r>
            <a:endParaRPr sz="2000" b="1" dirty="0">
              <a:solidFill>
                <a:srgbClr val="203B2C"/>
              </a:solidFill>
              <a:latin typeface="NanumSquare"/>
            </a:endParaRPr>
          </a:p>
        </p:txBody>
      </p:sp>
      <p:sp>
        <p:nvSpPr>
          <p:cNvPr id="9" name="Rounded Rectangle 8"/>
          <p:cNvSpPr/>
          <p:nvPr/>
        </p:nvSpPr>
        <p:spPr>
          <a:xfrm>
            <a:off x="896112" y="2368296"/>
            <a:ext cx="6208776" cy="429768"/>
          </a:xfrm>
          <a:prstGeom prst="roundRect">
            <a:avLst>
              <a:gd name="adj" fmla="val 9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005840" y="2450592"/>
            <a:ext cx="402336" cy="256032"/>
          </a:xfrm>
          <a:prstGeom prst="rect">
            <a:avLst/>
          </a:prstGeom>
          <a:noFill/>
        </p:spPr>
        <p:txBody>
          <a:bodyPr wrap="square" lIns="27432" tIns="0" rIns="27432" bIns="0" anchor="ctr">
            <a:spAutoFit/>
          </a:bodyPr>
          <a:lstStyle/>
          <a:p>
            <a:pPr algn="l">
              <a:lnSpc>
                <a:spcPct val="113000"/>
              </a:lnSpc>
              <a:spcAft>
                <a:spcPts val="0"/>
              </a:spcAft>
            </a:pPr>
            <a:r>
              <a:rPr sz="1300" b="1">
                <a:solidFill>
                  <a:srgbClr val="3B7562"/>
                </a:solidFill>
                <a:latin typeface="NanumSquare"/>
              </a:rPr>
              <a:t>01</a:t>
            </a:r>
          </a:p>
        </p:txBody>
      </p:sp>
      <p:sp>
        <p:nvSpPr>
          <p:cNvPr id="11" name="TextBox 10"/>
          <p:cNvSpPr txBox="1"/>
          <p:nvPr/>
        </p:nvSpPr>
        <p:spPr>
          <a:xfrm>
            <a:off x="1536192" y="2423160"/>
            <a:ext cx="5230368" cy="338328"/>
          </a:xfrm>
          <a:prstGeom prst="rect">
            <a:avLst/>
          </a:prstGeom>
          <a:noFill/>
        </p:spPr>
        <p:txBody>
          <a:bodyPr wrap="square" lIns="27432" tIns="0" rIns="27432" bIns="0" anchor="ctr">
            <a:spAutoFit/>
          </a:bodyPr>
          <a:lstStyle/>
          <a:p>
            <a:pPr algn="l">
              <a:lnSpc>
                <a:spcPct val="113000"/>
              </a:lnSpc>
              <a:spcAft>
                <a:spcPts val="0"/>
              </a:spcAft>
            </a:pPr>
            <a:r>
              <a:rPr sz="1600" b="0">
                <a:solidFill>
                  <a:srgbClr val="203B2C"/>
                </a:solidFill>
                <a:latin typeface="NanumSquare"/>
              </a:rPr>
              <a:t>종목 선정 이유</a:t>
            </a:r>
          </a:p>
        </p:txBody>
      </p:sp>
      <p:sp>
        <p:nvSpPr>
          <p:cNvPr id="12" name="Rounded Rectangle 11"/>
          <p:cNvSpPr/>
          <p:nvPr/>
        </p:nvSpPr>
        <p:spPr>
          <a:xfrm>
            <a:off x="896112" y="2926079"/>
            <a:ext cx="6208776" cy="429768"/>
          </a:xfrm>
          <a:prstGeom prst="roundRect">
            <a:avLst>
              <a:gd name="adj" fmla="val 9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1005840" y="3008376"/>
            <a:ext cx="402336" cy="256032"/>
          </a:xfrm>
          <a:prstGeom prst="rect">
            <a:avLst/>
          </a:prstGeom>
          <a:noFill/>
        </p:spPr>
        <p:txBody>
          <a:bodyPr wrap="square" lIns="27432" tIns="0" rIns="27432" bIns="0" anchor="ctr">
            <a:spAutoFit/>
          </a:bodyPr>
          <a:lstStyle/>
          <a:p>
            <a:pPr algn="l">
              <a:lnSpc>
                <a:spcPct val="113000"/>
              </a:lnSpc>
              <a:spcAft>
                <a:spcPts val="0"/>
              </a:spcAft>
            </a:pPr>
            <a:r>
              <a:rPr sz="1300" b="1">
                <a:solidFill>
                  <a:srgbClr val="3B7562"/>
                </a:solidFill>
                <a:latin typeface="NanumSquare"/>
              </a:rPr>
              <a:t>02</a:t>
            </a:r>
          </a:p>
        </p:txBody>
      </p:sp>
      <p:sp>
        <p:nvSpPr>
          <p:cNvPr id="14" name="TextBox 13"/>
          <p:cNvSpPr txBox="1"/>
          <p:nvPr/>
        </p:nvSpPr>
        <p:spPr>
          <a:xfrm>
            <a:off x="1536192" y="2980944"/>
            <a:ext cx="5230368" cy="338328"/>
          </a:xfrm>
          <a:prstGeom prst="rect">
            <a:avLst/>
          </a:prstGeom>
          <a:noFill/>
        </p:spPr>
        <p:txBody>
          <a:bodyPr wrap="square" lIns="27432" tIns="0" rIns="27432" bIns="0" anchor="ctr">
            <a:spAutoFit/>
          </a:bodyPr>
          <a:lstStyle/>
          <a:p>
            <a:pPr algn="l">
              <a:lnSpc>
                <a:spcPct val="113000"/>
              </a:lnSpc>
              <a:spcAft>
                <a:spcPts val="0"/>
              </a:spcAft>
            </a:pPr>
            <a:r>
              <a:rPr sz="1600" b="0" dirty="0" err="1">
                <a:solidFill>
                  <a:srgbClr val="203B2C"/>
                </a:solidFill>
                <a:latin typeface="NanumSquare"/>
              </a:rPr>
              <a:t>증권사</a:t>
            </a:r>
            <a:r>
              <a:rPr sz="1600" b="0" dirty="0">
                <a:solidFill>
                  <a:srgbClr val="203B2C"/>
                </a:solidFill>
                <a:latin typeface="NanumSquare"/>
              </a:rPr>
              <a:t> </a:t>
            </a:r>
            <a:r>
              <a:rPr sz="1600" b="0" dirty="0" err="1">
                <a:solidFill>
                  <a:srgbClr val="203B2C"/>
                </a:solidFill>
                <a:latin typeface="NanumSquare"/>
              </a:rPr>
              <a:t>리포트의</a:t>
            </a:r>
            <a:r>
              <a:rPr sz="1600" b="0" dirty="0">
                <a:solidFill>
                  <a:srgbClr val="203B2C"/>
                </a:solidFill>
                <a:latin typeface="NanumSquare"/>
              </a:rPr>
              <a:t> </a:t>
            </a:r>
            <a:r>
              <a:rPr sz="1600" b="0" dirty="0" err="1">
                <a:solidFill>
                  <a:srgbClr val="203B2C"/>
                </a:solidFill>
                <a:latin typeface="NanumSquare"/>
              </a:rPr>
              <a:t>주요</a:t>
            </a:r>
            <a:r>
              <a:rPr sz="1600" b="0" dirty="0">
                <a:solidFill>
                  <a:srgbClr val="203B2C"/>
                </a:solidFill>
                <a:latin typeface="NanumSquare"/>
              </a:rPr>
              <a:t> </a:t>
            </a:r>
            <a:r>
              <a:rPr sz="1600" b="0" dirty="0" err="1">
                <a:solidFill>
                  <a:srgbClr val="203B2C"/>
                </a:solidFill>
                <a:latin typeface="NanumSquare"/>
              </a:rPr>
              <a:t>근거</a:t>
            </a:r>
            <a:endParaRPr sz="1600" b="0" dirty="0">
              <a:solidFill>
                <a:srgbClr val="203B2C"/>
              </a:solidFill>
              <a:latin typeface="NanumSquare"/>
            </a:endParaRPr>
          </a:p>
        </p:txBody>
      </p:sp>
      <p:sp>
        <p:nvSpPr>
          <p:cNvPr id="15" name="Rounded Rectangle 14"/>
          <p:cNvSpPr/>
          <p:nvPr/>
        </p:nvSpPr>
        <p:spPr>
          <a:xfrm>
            <a:off x="896112" y="3483863"/>
            <a:ext cx="6208776" cy="429768"/>
          </a:xfrm>
          <a:prstGeom prst="roundRect">
            <a:avLst>
              <a:gd name="adj" fmla="val 9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1005840" y="3566160"/>
            <a:ext cx="402336" cy="256032"/>
          </a:xfrm>
          <a:prstGeom prst="rect">
            <a:avLst/>
          </a:prstGeom>
          <a:noFill/>
        </p:spPr>
        <p:txBody>
          <a:bodyPr wrap="square" lIns="27432" tIns="0" rIns="27432" bIns="0" anchor="ctr">
            <a:spAutoFit/>
          </a:bodyPr>
          <a:lstStyle/>
          <a:p>
            <a:pPr algn="l">
              <a:lnSpc>
                <a:spcPct val="113000"/>
              </a:lnSpc>
              <a:spcAft>
                <a:spcPts val="0"/>
              </a:spcAft>
            </a:pPr>
            <a:r>
              <a:rPr sz="1300" b="1">
                <a:solidFill>
                  <a:srgbClr val="3B7562"/>
                </a:solidFill>
                <a:latin typeface="NanumSquare"/>
              </a:rPr>
              <a:t>03</a:t>
            </a:r>
          </a:p>
        </p:txBody>
      </p:sp>
      <p:sp>
        <p:nvSpPr>
          <p:cNvPr id="17" name="TextBox 16"/>
          <p:cNvSpPr txBox="1"/>
          <p:nvPr/>
        </p:nvSpPr>
        <p:spPr>
          <a:xfrm>
            <a:off x="1536192" y="3538728"/>
            <a:ext cx="5230368" cy="338328"/>
          </a:xfrm>
          <a:prstGeom prst="rect">
            <a:avLst/>
          </a:prstGeom>
          <a:noFill/>
        </p:spPr>
        <p:txBody>
          <a:bodyPr wrap="square" lIns="27432" tIns="0" rIns="27432" bIns="0" anchor="ctr">
            <a:spAutoFit/>
          </a:bodyPr>
          <a:lstStyle/>
          <a:p>
            <a:pPr algn="l">
              <a:lnSpc>
                <a:spcPct val="113000"/>
              </a:lnSpc>
              <a:spcAft>
                <a:spcPts val="0"/>
              </a:spcAft>
            </a:pPr>
            <a:r>
              <a:rPr sz="1600" b="0" dirty="0" err="1">
                <a:solidFill>
                  <a:srgbClr val="203B2C"/>
                </a:solidFill>
                <a:latin typeface="NanumSquare"/>
              </a:rPr>
              <a:t>비중이</a:t>
            </a:r>
            <a:r>
              <a:rPr sz="1600" b="0" dirty="0">
                <a:solidFill>
                  <a:srgbClr val="203B2C"/>
                </a:solidFill>
                <a:latin typeface="NanumSquare"/>
              </a:rPr>
              <a:t> </a:t>
            </a:r>
            <a:r>
              <a:rPr sz="1600" b="0" dirty="0" err="1">
                <a:solidFill>
                  <a:srgbClr val="203B2C"/>
                </a:solidFill>
                <a:latin typeface="NanumSquare"/>
              </a:rPr>
              <a:t>결정된</a:t>
            </a:r>
            <a:r>
              <a:rPr sz="1600" b="0" dirty="0">
                <a:solidFill>
                  <a:srgbClr val="203B2C"/>
                </a:solidFill>
                <a:latin typeface="NanumSquare"/>
              </a:rPr>
              <a:t> </a:t>
            </a:r>
            <a:r>
              <a:rPr sz="1600" b="0" dirty="0" err="1">
                <a:solidFill>
                  <a:srgbClr val="203B2C"/>
                </a:solidFill>
                <a:latin typeface="NanumSquare"/>
              </a:rPr>
              <a:t>이유</a:t>
            </a:r>
            <a:endParaRPr sz="1600" b="0" dirty="0">
              <a:solidFill>
                <a:srgbClr val="203B2C"/>
              </a:solidFill>
              <a:latin typeface="NanumSquare"/>
            </a:endParaRPr>
          </a:p>
        </p:txBody>
      </p:sp>
      <p:sp>
        <p:nvSpPr>
          <p:cNvPr id="18" name="Rounded Rectangle 17"/>
          <p:cNvSpPr/>
          <p:nvPr/>
        </p:nvSpPr>
        <p:spPr>
          <a:xfrm>
            <a:off x="896112" y="4041648"/>
            <a:ext cx="6208776" cy="429768"/>
          </a:xfrm>
          <a:prstGeom prst="roundRect">
            <a:avLst>
              <a:gd name="adj" fmla="val 9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1005840" y="4123944"/>
            <a:ext cx="402336" cy="256032"/>
          </a:xfrm>
          <a:prstGeom prst="rect">
            <a:avLst/>
          </a:prstGeom>
          <a:noFill/>
        </p:spPr>
        <p:txBody>
          <a:bodyPr wrap="square" lIns="27432" tIns="0" rIns="27432" bIns="0" anchor="ctr">
            <a:spAutoFit/>
          </a:bodyPr>
          <a:lstStyle/>
          <a:p>
            <a:pPr algn="l">
              <a:lnSpc>
                <a:spcPct val="113000"/>
              </a:lnSpc>
              <a:spcAft>
                <a:spcPts val="0"/>
              </a:spcAft>
            </a:pPr>
            <a:r>
              <a:rPr sz="1300" b="1">
                <a:solidFill>
                  <a:srgbClr val="3B7562"/>
                </a:solidFill>
                <a:latin typeface="NanumSquare"/>
              </a:rPr>
              <a:t>04</a:t>
            </a:r>
          </a:p>
        </p:txBody>
      </p:sp>
      <p:sp>
        <p:nvSpPr>
          <p:cNvPr id="20" name="TextBox 19"/>
          <p:cNvSpPr txBox="1"/>
          <p:nvPr/>
        </p:nvSpPr>
        <p:spPr>
          <a:xfrm>
            <a:off x="1536192" y="4096512"/>
            <a:ext cx="5230368" cy="338328"/>
          </a:xfrm>
          <a:prstGeom prst="rect">
            <a:avLst/>
          </a:prstGeom>
          <a:noFill/>
        </p:spPr>
        <p:txBody>
          <a:bodyPr wrap="square" lIns="27432" tIns="0" rIns="27432" bIns="0" anchor="ctr">
            <a:spAutoFit/>
          </a:bodyPr>
          <a:lstStyle/>
          <a:p>
            <a:pPr algn="l">
              <a:lnSpc>
                <a:spcPct val="113000"/>
              </a:lnSpc>
              <a:spcAft>
                <a:spcPts val="0"/>
              </a:spcAft>
            </a:pPr>
            <a:r>
              <a:rPr sz="1600" b="0" dirty="0" err="1">
                <a:solidFill>
                  <a:srgbClr val="203B2C"/>
                </a:solidFill>
                <a:latin typeface="NanumSquare"/>
              </a:rPr>
              <a:t>종목·섹터</a:t>
            </a:r>
            <a:r>
              <a:rPr sz="1600" b="0" dirty="0">
                <a:solidFill>
                  <a:srgbClr val="203B2C"/>
                </a:solidFill>
                <a:latin typeface="NanumSquare"/>
              </a:rPr>
              <a:t> </a:t>
            </a:r>
            <a:r>
              <a:rPr sz="1600" b="0" dirty="0" err="1">
                <a:solidFill>
                  <a:srgbClr val="203B2C"/>
                </a:solidFill>
                <a:latin typeface="NanumSquare"/>
              </a:rPr>
              <a:t>위험</a:t>
            </a:r>
            <a:r>
              <a:rPr sz="1600" b="0" dirty="0">
                <a:solidFill>
                  <a:srgbClr val="203B2C"/>
                </a:solidFill>
                <a:latin typeface="NanumSquare"/>
              </a:rPr>
              <a:t> </a:t>
            </a:r>
            <a:r>
              <a:rPr sz="1600" b="0" dirty="0" err="1">
                <a:solidFill>
                  <a:srgbClr val="203B2C"/>
                </a:solidFill>
                <a:latin typeface="NanumSquare"/>
              </a:rPr>
              <a:t>제약</a:t>
            </a:r>
            <a:endParaRPr sz="1600" b="0" dirty="0">
              <a:solidFill>
                <a:srgbClr val="203B2C"/>
              </a:solidFill>
              <a:latin typeface="NanumSquare"/>
            </a:endParaRPr>
          </a:p>
        </p:txBody>
      </p:sp>
      <p:sp>
        <p:nvSpPr>
          <p:cNvPr id="21" name="Rounded Rectangle 20"/>
          <p:cNvSpPr/>
          <p:nvPr/>
        </p:nvSpPr>
        <p:spPr>
          <a:xfrm>
            <a:off x="896112" y="4599431"/>
            <a:ext cx="6208776" cy="429768"/>
          </a:xfrm>
          <a:prstGeom prst="roundRect">
            <a:avLst>
              <a:gd name="adj" fmla="val 9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1005840" y="4681728"/>
            <a:ext cx="402336" cy="256032"/>
          </a:xfrm>
          <a:prstGeom prst="rect">
            <a:avLst/>
          </a:prstGeom>
          <a:noFill/>
        </p:spPr>
        <p:txBody>
          <a:bodyPr wrap="square" lIns="27432" tIns="0" rIns="27432" bIns="0" anchor="ctr">
            <a:spAutoFit/>
          </a:bodyPr>
          <a:lstStyle/>
          <a:p>
            <a:pPr algn="l">
              <a:lnSpc>
                <a:spcPct val="113000"/>
              </a:lnSpc>
              <a:spcAft>
                <a:spcPts val="0"/>
              </a:spcAft>
            </a:pPr>
            <a:r>
              <a:rPr sz="1300" b="1">
                <a:solidFill>
                  <a:srgbClr val="3B7562"/>
                </a:solidFill>
                <a:latin typeface="NanumSquare"/>
              </a:rPr>
              <a:t>05</a:t>
            </a:r>
          </a:p>
        </p:txBody>
      </p:sp>
      <p:sp>
        <p:nvSpPr>
          <p:cNvPr id="23" name="TextBox 22"/>
          <p:cNvSpPr txBox="1"/>
          <p:nvPr/>
        </p:nvSpPr>
        <p:spPr>
          <a:xfrm>
            <a:off x="1536192" y="4654296"/>
            <a:ext cx="5230368" cy="338328"/>
          </a:xfrm>
          <a:prstGeom prst="rect">
            <a:avLst/>
          </a:prstGeom>
          <a:noFill/>
        </p:spPr>
        <p:txBody>
          <a:bodyPr wrap="square" lIns="27432" tIns="0" rIns="27432" bIns="0" anchor="ctr">
            <a:spAutoFit/>
          </a:bodyPr>
          <a:lstStyle/>
          <a:p>
            <a:pPr algn="l">
              <a:lnSpc>
                <a:spcPct val="113000"/>
              </a:lnSpc>
              <a:spcAft>
                <a:spcPts val="0"/>
              </a:spcAft>
            </a:pPr>
            <a:r>
              <a:rPr sz="1600" b="0">
                <a:solidFill>
                  <a:srgbClr val="203B2C"/>
                </a:solidFill>
                <a:latin typeface="NanumSquare"/>
              </a:rPr>
              <a:t>예측의 한계와 불확실성</a:t>
            </a:r>
          </a:p>
        </p:txBody>
      </p:sp>
      <p:sp>
        <p:nvSpPr>
          <p:cNvPr id="24" name="Rounded Rectangle 23"/>
          <p:cNvSpPr/>
          <p:nvPr/>
        </p:nvSpPr>
        <p:spPr>
          <a:xfrm>
            <a:off x="7680960" y="1636776"/>
            <a:ext cx="3886200" cy="4105656"/>
          </a:xfrm>
          <a:prstGeom prst="roundRect">
            <a:avLst>
              <a:gd name="adj" fmla="val 9000"/>
            </a:avLst>
          </a:prstGeom>
          <a:solidFill>
            <a:srgbClr val="F7F9F7"/>
          </a:solidFill>
          <a:ln w="10160">
            <a:solidFill>
              <a:srgbClr val="DCE6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7964424" y="1865376"/>
            <a:ext cx="3264408" cy="384048"/>
          </a:xfrm>
          <a:prstGeom prst="rect">
            <a:avLst/>
          </a:prstGeom>
          <a:noFill/>
        </p:spPr>
        <p:txBody>
          <a:bodyPr wrap="square" lIns="27432" tIns="0" rIns="27432" bIns="0" anchor="ctr">
            <a:spAutoFit/>
          </a:bodyPr>
          <a:lstStyle/>
          <a:p>
            <a:pPr algn="l">
              <a:lnSpc>
                <a:spcPct val="113000"/>
              </a:lnSpc>
              <a:spcAft>
                <a:spcPts val="0"/>
              </a:spcAft>
            </a:pPr>
            <a:r>
              <a:rPr sz="2000" b="1" dirty="0" err="1">
                <a:solidFill>
                  <a:srgbClr val="203B2C"/>
                </a:solidFill>
                <a:latin typeface="NanumSquare"/>
              </a:rPr>
              <a:t>완료</a:t>
            </a:r>
            <a:r>
              <a:rPr sz="2000" b="1" dirty="0">
                <a:solidFill>
                  <a:srgbClr val="203B2C"/>
                </a:solidFill>
                <a:latin typeface="NanumSquare"/>
              </a:rPr>
              <a:t> </a:t>
            </a:r>
            <a:r>
              <a:rPr sz="2000" b="1" dirty="0" err="1">
                <a:solidFill>
                  <a:srgbClr val="203B2C"/>
                </a:solidFill>
                <a:latin typeface="NanumSquare"/>
              </a:rPr>
              <a:t>조건</a:t>
            </a:r>
            <a:endParaRPr sz="2000" b="1" dirty="0">
              <a:solidFill>
                <a:srgbClr val="203B2C"/>
              </a:solidFill>
              <a:latin typeface="NanumSquare"/>
            </a:endParaRPr>
          </a:p>
        </p:txBody>
      </p:sp>
      <p:sp>
        <p:nvSpPr>
          <p:cNvPr id="26" name="TextBox 25"/>
          <p:cNvSpPr txBox="1"/>
          <p:nvPr/>
        </p:nvSpPr>
        <p:spPr>
          <a:xfrm>
            <a:off x="7936992" y="2514600"/>
            <a:ext cx="3374136" cy="813816"/>
          </a:xfrm>
          <a:prstGeom prst="rect">
            <a:avLst/>
          </a:prstGeom>
          <a:noFill/>
        </p:spPr>
        <p:txBody>
          <a:bodyPr wrap="square" lIns="27432" tIns="0" rIns="27432" bIns="0" anchor="ctr">
            <a:spAutoFit/>
          </a:bodyPr>
          <a:lstStyle/>
          <a:p>
            <a:pPr algn="l">
              <a:lnSpc>
                <a:spcPct val="113000"/>
              </a:lnSpc>
              <a:spcAft>
                <a:spcPts val="0"/>
              </a:spcAft>
            </a:pPr>
            <a:r>
              <a:rPr sz="3900" b="1" dirty="0">
                <a:solidFill>
                  <a:srgbClr val="3B7562"/>
                </a:solidFill>
                <a:latin typeface="NanumSquare"/>
              </a:rPr>
              <a:t>100%</a:t>
            </a:r>
          </a:p>
        </p:txBody>
      </p:sp>
      <p:sp>
        <p:nvSpPr>
          <p:cNvPr id="27" name="TextBox 26"/>
          <p:cNvSpPr txBox="1"/>
          <p:nvPr/>
        </p:nvSpPr>
        <p:spPr>
          <a:xfrm>
            <a:off x="7964424" y="3218688"/>
            <a:ext cx="3328416" cy="548640"/>
          </a:xfrm>
          <a:prstGeom prst="rect">
            <a:avLst/>
          </a:prstGeom>
          <a:noFill/>
        </p:spPr>
        <p:txBody>
          <a:bodyPr wrap="square" lIns="27432" tIns="0" rIns="27432" bIns="0" anchor="ctr">
            <a:spAutoFit/>
          </a:bodyPr>
          <a:lstStyle/>
          <a:p>
            <a:pPr algn="l">
              <a:lnSpc>
                <a:spcPct val="113000"/>
              </a:lnSpc>
              <a:spcAft>
                <a:spcPts val="0"/>
              </a:spcAft>
            </a:pPr>
            <a:r>
              <a:rPr sz="1500" b="1">
                <a:solidFill>
                  <a:srgbClr val="203B2C"/>
                </a:solidFill>
                <a:latin typeface="NanumSquare"/>
              </a:rPr>
              <a:t>적용 가능한 필수 항목 충족</a:t>
            </a:r>
          </a:p>
        </p:txBody>
      </p:sp>
      <p:cxnSp>
        <p:nvCxnSpPr>
          <p:cNvPr id="28" name="Connector 27"/>
          <p:cNvCxnSpPr/>
          <p:nvPr/>
        </p:nvCxnSpPr>
        <p:spPr>
          <a:xfrm>
            <a:off x="7964424" y="3913632"/>
            <a:ext cx="3300984" cy="0"/>
          </a:xfrm>
          <a:prstGeom prst="line">
            <a:avLst/>
          </a:prstGeom>
          <a:ln w="12700">
            <a:solidFill>
              <a:srgbClr val="DCE6DD"/>
            </a:solidFill>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7964424" y="4169663"/>
            <a:ext cx="3246120" cy="347472"/>
          </a:xfrm>
          <a:prstGeom prst="rect">
            <a:avLst/>
          </a:prstGeom>
          <a:noFill/>
        </p:spPr>
        <p:txBody>
          <a:bodyPr wrap="square" lIns="27432" tIns="0" rIns="27432" bIns="0" anchor="ctr">
            <a:spAutoFit/>
          </a:bodyPr>
          <a:lstStyle/>
          <a:p>
            <a:pPr algn="l">
              <a:lnSpc>
                <a:spcPct val="113000"/>
              </a:lnSpc>
              <a:spcAft>
                <a:spcPts val="0"/>
              </a:spcAft>
            </a:pPr>
            <a:r>
              <a:rPr sz="1600" b="0" dirty="0" err="1">
                <a:solidFill>
                  <a:srgbClr val="203B2C"/>
                </a:solidFill>
                <a:latin typeface="NanumSquare"/>
              </a:rPr>
              <a:t>외부</a:t>
            </a:r>
            <a:r>
              <a:rPr sz="1600" b="0" dirty="0">
                <a:solidFill>
                  <a:srgbClr val="203B2C"/>
                </a:solidFill>
                <a:latin typeface="NanumSquare"/>
              </a:rPr>
              <a:t> </a:t>
            </a:r>
            <a:r>
              <a:rPr sz="1600" b="0" dirty="0" err="1">
                <a:solidFill>
                  <a:srgbClr val="203B2C"/>
                </a:solidFill>
                <a:latin typeface="NanumSquare"/>
              </a:rPr>
              <a:t>사실</a:t>
            </a:r>
            <a:r>
              <a:rPr sz="1600" b="0" dirty="0">
                <a:solidFill>
                  <a:srgbClr val="203B2C"/>
                </a:solidFill>
                <a:latin typeface="NanumSquare"/>
              </a:rPr>
              <a:t> → </a:t>
            </a:r>
            <a:r>
              <a:rPr sz="1600" b="0" dirty="0" err="1">
                <a:solidFill>
                  <a:srgbClr val="203B2C"/>
                </a:solidFill>
                <a:latin typeface="NanumSquare"/>
              </a:rPr>
              <a:t>원문</a:t>
            </a:r>
            <a:r>
              <a:rPr sz="1600" b="0" dirty="0">
                <a:solidFill>
                  <a:srgbClr val="203B2C"/>
                </a:solidFill>
                <a:latin typeface="NanumSquare"/>
              </a:rPr>
              <a:t> </a:t>
            </a:r>
            <a:r>
              <a:rPr sz="1600" b="0" dirty="0" err="1">
                <a:solidFill>
                  <a:srgbClr val="203B2C"/>
                </a:solidFill>
                <a:latin typeface="NanumSquare"/>
              </a:rPr>
              <a:t>출처</a:t>
            </a:r>
            <a:endParaRPr sz="1600" b="0" dirty="0">
              <a:solidFill>
                <a:srgbClr val="203B2C"/>
              </a:solidFill>
              <a:latin typeface="NanumSquare"/>
            </a:endParaRPr>
          </a:p>
        </p:txBody>
      </p:sp>
      <p:sp>
        <p:nvSpPr>
          <p:cNvPr id="30" name="TextBox 29"/>
          <p:cNvSpPr txBox="1"/>
          <p:nvPr/>
        </p:nvSpPr>
        <p:spPr>
          <a:xfrm>
            <a:off x="7964424" y="4608576"/>
            <a:ext cx="3246120" cy="393192"/>
          </a:xfrm>
          <a:prstGeom prst="rect">
            <a:avLst/>
          </a:prstGeom>
          <a:noFill/>
        </p:spPr>
        <p:txBody>
          <a:bodyPr wrap="square" lIns="27432" tIns="0" rIns="27432" bIns="0" anchor="ctr">
            <a:spAutoFit/>
          </a:bodyPr>
          <a:lstStyle/>
          <a:p>
            <a:pPr algn="l">
              <a:lnSpc>
                <a:spcPct val="113000"/>
              </a:lnSpc>
              <a:spcAft>
                <a:spcPts val="0"/>
              </a:spcAft>
            </a:pPr>
            <a:r>
              <a:rPr sz="1600" b="0" dirty="0" err="1">
                <a:solidFill>
                  <a:srgbClr val="203B2C"/>
                </a:solidFill>
                <a:latin typeface="NanumSquare"/>
              </a:rPr>
              <a:t>비중·위험</a:t>
            </a:r>
            <a:r>
              <a:rPr sz="1600" b="0" dirty="0">
                <a:solidFill>
                  <a:srgbClr val="203B2C"/>
                </a:solidFill>
                <a:latin typeface="NanumSquare"/>
              </a:rPr>
              <a:t> </a:t>
            </a:r>
            <a:r>
              <a:rPr sz="1600" b="0" dirty="0" err="1">
                <a:solidFill>
                  <a:srgbClr val="203B2C"/>
                </a:solidFill>
                <a:latin typeface="NanumSquare"/>
              </a:rPr>
              <a:t>수치</a:t>
            </a:r>
            <a:r>
              <a:rPr sz="1600" b="0" dirty="0">
                <a:solidFill>
                  <a:srgbClr val="203B2C"/>
                </a:solidFill>
                <a:latin typeface="NanumSquare"/>
              </a:rPr>
              <a:t> → </a:t>
            </a:r>
            <a:r>
              <a:rPr sz="1600" b="0" dirty="0" err="1">
                <a:solidFill>
                  <a:srgbClr val="203B2C"/>
                </a:solidFill>
                <a:latin typeface="NanumSquare"/>
              </a:rPr>
              <a:t>계산</a:t>
            </a:r>
            <a:r>
              <a:rPr sz="1600" b="0" dirty="0">
                <a:solidFill>
                  <a:srgbClr val="203B2C"/>
                </a:solidFill>
                <a:latin typeface="NanumSquare"/>
              </a:rPr>
              <a:t> </a:t>
            </a:r>
            <a:r>
              <a:rPr sz="1600" b="0" dirty="0" err="1">
                <a:solidFill>
                  <a:srgbClr val="203B2C"/>
                </a:solidFill>
                <a:latin typeface="NanumSquare"/>
              </a:rPr>
              <a:t>기록</a:t>
            </a:r>
            <a:endParaRPr sz="1600" b="0" dirty="0">
              <a:solidFill>
                <a:srgbClr val="203B2C"/>
              </a:solidFill>
              <a:latin typeface="NanumSquare"/>
            </a:endParaRPr>
          </a:p>
        </p:txBody>
      </p:sp>
      <p:sp>
        <p:nvSpPr>
          <p:cNvPr id="31" name="TextBox 30"/>
          <p:cNvSpPr txBox="1"/>
          <p:nvPr/>
        </p:nvSpPr>
        <p:spPr>
          <a:xfrm>
            <a:off x="7964424" y="5065776"/>
            <a:ext cx="3246120" cy="384048"/>
          </a:xfrm>
          <a:prstGeom prst="rect">
            <a:avLst/>
          </a:prstGeom>
          <a:noFill/>
        </p:spPr>
        <p:txBody>
          <a:bodyPr wrap="square" lIns="27432" tIns="0" rIns="27432" bIns="0" anchor="ctr">
            <a:spAutoFit/>
          </a:bodyPr>
          <a:lstStyle/>
          <a:p>
            <a:pPr algn="l">
              <a:lnSpc>
                <a:spcPct val="113000"/>
              </a:lnSpc>
              <a:spcAft>
                <a:spcPts val="0"/>
              </a:spcAft>
            </a:pPr>
            <a:r>
              <a:rPr sz="1600" b="0" dirty="0" err="1">
                <a:solidFill>
                  <a:srgbClr val="203B2C"/>
                </a:solidFill>
                <a:latin typeface="NanumSquare"/>
              </a:rPr>
              <a:t>제약</a:t>
            </a:r>
            <a:r>
              <a:rPr sz="1600" b="0" dirty="0">
                <a:solidFill>
                  <a:srgbClr val="203B2C"/>
                </a:solidFill>
                <a:latin typeface="NanumSquare"/>
              </a:rPr>
              <a:t> </a:t>
            </a:r>
            <a:r>
              <a:rPr sz="1600" b="0" dirty="0" err="1">
                <a:solidFill>
                  <a:srgbClr val="203B2C"/>
                </a:solidFill>
                <a:latin typeface="NanumSquare"/>
              </a:rPr>
              <a:t>영향</a:t>
            </a:r>
            <a:r>
              <a:rPr sz="1600" b="0" dirty="0">
                <a:solidFill>
                  <a:srgbClr val="203B2C"/>
                </a:solidFill>
                <a:latin typeface="NanumSquare"/>
              </a:rPr>
              <a:t> → </a:t>
            </a:r>
            <a:r>
              <a:rPr sz="1600" b="0" dirty="0" err="1">
                <a:solidFill>
                  <a:srgbClr val="203B2C"/>
                </a:solidFill>
                <a:latin typeface="NanumSquare"/>
              </a:rPr>
              <a:t>재계산</a:t>
            </a:r>
            <a:r>
              <a:rPr sz="1600" b="0" dirty="0">
                <a:solidFill>
                  <a:srgbClr val="203B2C"/>
                </a:solidFill>
                <a:latin typeface="NanumSquare"/>
              </a:rPr>
              <a:t> </a:t>
            </a:r>
            <a:r>
              <a:rPr sz="1600" b="0" dirty="0" err="1">
                <a:solidFill>
                  <a:srgbClr val="203B2C"/>
                </a:solidFill>
                <a:latin typeface="NanumSquare"/>
              </a:rPr>
              <a:t>근거</a:t>
            </a:r>
            <a:endParaRPr sz="1600" b="0" dirty="0">
              <a:solidFill>
                <a:srgbClr val="203B2C"/>
              </a:solidFill>
              <a:latin typeface="NanumSquare"/>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57784" y="320040"/>
            <a:ext cx="10561320" cy="676656"/>
          </a:xfrm>
          <a:prstGeom prst="rect">
            <a:avLst/>
          </a:prstGeom>
          <a:noFill/>
        </p:spPr>
        <p:txBody>
          <a:bodyPr wrap="square" lIns="27432" tIns="0" rIns="27432" bIns="0" anchor="ctr">
            <a:spAutoFit/>
          </a:bodyPr>
          <a:lstStyle/>
          <a:p>
            <a:pPr algn="l">
              <a:lnSpc>
                <a:spcPct val="113000"/>
              </a:lnSpc>
              <a:spcAft>
                <a:spcPts val="0"/>
              </a:spcAft>
            </a:pPr>
            <a:r>
              <a:rPr sz="3000" b="1">
                <a:solidFill>
                  <a:srgbClr val="203B2C"/>
                </a:solidFill>
                <a:latin typeface="NanumSquare"/>
              </a:rPr>
              <a:t>검증 에이전트: 시험 성능과 공개 기준 분리</a:t>
            </a:r>
          </a:p>
        </p:txBody>
      </p:sp>
      <p:cxnSp>
        <p:nvCxnSpPr>
          <p:cNvPr id="3" name="Connector 2"/>
          <p:cNvCxnSpPr/>
          <p:nvPr/>
        </p:nvCxnSpPr>
        <p:spPr>
          <a:xfrm>
            <a:off x="594360" y="1188720"/>
            <a:ext cx="11000232" cy="0"/>
          </a:xfrm>
          <a:prstGeom prst="line">
            <a:avLst/>
          </a:prstGeom>
          <a:ln w="12700">
            <a:solidFill>
              <a:srgbClr val="DCE6DD"/>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585216" y="6373368"/>
            <a:ext cx="5486400" cy="192024"/>
          </a:xfrm>
          <a:prstGeom prst="rect">
            <a:avLst/>
          </a:prstGeom>
          <a:noFill/>
        </p:spPr>
        <p:txBody>
          <a:bodyPr wrap="square" lIns="27432" tIns="0" rIns="27432" bIns="0" anchor="ctr">
            <a:spAutoFit/>
          </a:bodyPr>
          <a:lstStyle/>
          <a:p>
            <a:pPr algn="l">
              <a:lnSpc>
                <a:spcPct val="113000"/>
              </a:lnSpc>
              <a:spcAft>
                <a:spcPts val="0"/>
              </a:spcAft>
            </a:pPr>
            <a:r>
              <a:rPr sz="1000" b="0">
                <a:solidFill>
                  <a:srgbClr val="64766A"/>
                </a:solidFill>
                <a:latin typeface="NanumSquare"/>
              </a:rPr>
              <a:t>개미구조대  ·  AI 캡스톤 디자인</a:t>
            </a:r>
          </a:p>
        </p:txBody>
      </p:sp>
      <p:sp>
        <p:nvSpPr>
          <p:cNvPr id="5" name="TextBox 4"/>
          <p:cNvSpPr txBox="1"/>
          <p:nvPr/>
        </p:nvSpPr>
        <p:spPr>
          <a:xfrm>
            <a:off x="11109960" y="6364224"/>
            <a:ext cx="457200" cy="219456"/>
          </a:xfrm>
          <a:prstGeom prst="rect">
            <a:avLst/>
          </a:prstGeom>
          <a:noFill/>
        </p:spPr>
        <p:txBody>
          <a:bodyPr wrap="square" lIns="27432" tIns="0" rIns="27432" bIns="0" anchor="ctr">
            <a:spAutoFit/>
          </a:bodyPr>
          <a:lstStyle/>
          <a:p>
            <a:pPr algn="r">
              <a:lnSpc>
                <a:spcPct val="113000"/>
              </a:lnSpc>
              <a:spcAft>
                <a:spcPts val="0"/>
              </a:spcAft>
            </a:pPr>
            <a:r>
              <a:rPr sz="1100" b="0">
                <a:solidFill>
                  <a:srgbClr val="64766A"/>
                </a:solidFill>
                <a:latin typeface="NanumSquare"/>
              </a:rPr>
              <a:t>9</a:t>
            </a:r>
          </a:p>
        </p:txBody>
      </p:sp>
      <p:sp>
        <p:nvSpPr>
          <p:cNvPr id="6" name="TextBox 5"/>
          <p:cNvSpPr txBox="1"/>
          <p:nvPr/>
        </p:nvSpPr>
        <p:spPr>
          <a:xfrm>
            <a:off x="612648" y="1609344"/>
            <a:ext cx="5678424" cy="374904"/>
          </a:xfrm>
          <a:prstGeom prst="rect">
            <a:avLst/>
          </a:prstGeom>
          <a:noFill/>
        </p:spPr>
        <p:txBody>
          <a:bodyPr wrap="square" lIns="27432" tIns="0" rIns="27432" bIns="0" anchor="ctr">
            <a:spAutoFit/>
          </a:bodyPr>
          <a:lstStyle/>
          <a:p>
            <a:pPr algn="l">
              <a:lnSpc>
                <a:spcPct val="113000"/>
              </a:lnSpc>
              <a:spcAft>
                <a:spcPts val="0"/>
              </a:spcAft>
            </a:pPr>
            <a:r>
              <a:rPr sz="1800" b="1">
                <a:solidFill>
                  <a:srgbClr val="3B7562"/>
                </a:solidFill>
                <a:latin typeface="NanumSquare"/>
              </a:rPr>
              <a:t>초기 성능 시험  ·  항목별 30건</a:t>
            </a:r>
          </a:p>
        </p:txBody>
      </p:sp>
      <p:sp>
        <p:nvSpPr>
          <p:cNvPr id="7" name="TextBox 6"/>
          <p:cNvSpPr txBox="1"/>
          <p:nvPr/>
        </p:nvSpPr>
        <p:spPr>
          <a:xfrm>
            <a:off x="6492240" y="1609344"/>
            <a:ext cx="5074920" cy="374904"/>
          </a:xfrm>
          <a:prstGeom prst="rect">
            <a:avLst/>
          </a:prstGeom>
          <a:noFill/>
        </p:spPr>
        <p:txBody>
          <a:bodyPr wrap="square" lIns="27432" tIns="0" rIns="27432" bIns="0" anchor="ctr">
            <a:spAutoFit/>
          </a:bodyPr>
          <a:lstStyle/>
          <a:p>
            <a:pPr algn="l">
              <a:lnSpc>
                <a:spcPct val="113000"/>
              </a:lnSpc>
              <a:spcAft>
                <a:spcPts val="0"/>
              </a:spcAft>
            </a:pPr>
            <a:r>
              <a:rPr sz="1800" b="1">
                <a:solidFill>
                  <a:srgbClr val="3B7562"/>
                </a:solidFill>
                <a:latin typeface="NanumSquare"/>
              </a:rPr>
              <a:t>개별 실행의 최종 공개 게이트</a:t>
            </a:r>
          </a:p>
        </p:txBody>
      </p:sp>
      <p:sp>
        <p:nvSpPr>
          <p:cNvPr id="8" name="Rounded Rectangle 7"/>
          <p:cNvSpPr/>
          <p:nvPr/>
        </p:nvSpPr>
        <p:spPr>
          <a:xfrm>
            <a:off x="603504" y="2112264"/>
            <a:ext cx="5541264" cy="886968"/>
          </a:xfrm>
          <a:prstGeom prst="roundRect">
            <a:avLst>
              <a:gd name="adj" fmla="val 9000"/>
            </a:avLst>
          </a:prstGeom>
          <a:solidFill>
            <a:srgbClr val="EFF4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68680" y="2194560"/>
            <a:ext cx="2167128" cy="658368"/>
          </a:xfrm>
          <a:prstGeom prst="rect">
            <a:avLst/>
          </a:prstGeom>
          <a:noFill/>
        </p:spPr>
        <p:txBody>
          <a:bodyPr wrap="square" lIns="27432" tIns="0" rIns="27432" bIns="0" anchor="ctr">
            <a:spAutoFit/>
          </a:bodyPr>
          <a:lstStyle/>
          <a:p>
            <a:pPr algn="l">
              <a:lnSpc>
                <a:spcPct val="113000"/>
              </a:lnSpc>
              <a:spcAft>
                <a:spcPts val="0"/>
              </a:spcAft>
            </a:pPr>
            <a:r>
              <a:rPr sz="2500" b="1">
                <a:solidFill>
                  <a:srgbClr val="203B2C"/>
                </a:solidFill>
                <a:latin typeface="NanumSquare"/>
              </a:rPr>
              <a:t>≥27 / 30</a:t>
            </a:r>
          </a:p>
        </p:txBody>
      </p:sp>
      <p:sp>
        <p:nvSpPr>
          <p:cNvPr id="10" name="TextBox 9"/>
          <p:cNvSpPr txBox="1"/>
          <p:nvPr/>
        </p:nvSpPr>
        <p:spPr>
          <a:xfrm>
            <a:off x="2990088" y="2304288"/>
            <a:ext cx="2880360" cy="438912"/>
          </a:xfrm>
          <a:prstGeom prst="rect">
            <a:avLst/>
          </a:prstGeom>
          <a:noFill/>
        </p:spPr>
        <p:txBody>
          <a:bodyPr wrap="square" lIns="27432" tIns="0" rIns="27432" bIns="0" anchor="ctr">
            <a:spAutoFit/>
          </a:bodyPr>
          <a:lstStyle/>
          <a:p>
            <a:pPr algn="l">
              <a:lnSpc>
                <a:spcPct val="113000"/>
              </a:lnSpc>
              <a:spcAft>
                <a:spcPts val="0"/>
              </a:spcAft>
            </a:pPr>
            <a:r>
              <a:rPr sz="1500" b="0">
                <a:solidFill>
                  <a:srgbClr val="64766A"/>
                </a:solidFill>
                <a:latin typeface="NanumSquare"/>
              </a:rPr>
              <a:t>출처 없는 주장 검출</a:t>
            </a:r>
          </a:p>
        </p:txBody>
      </p:sp>
      <p:sp>
        <p:nvSpPr>
          <p:cNvPr id="11" name="Rounded Rectangle 10"/>
          <p:cNvSpPr/>
          <p:nvPr/>
        </p:nvSpPr>
        <p:spPr>
          <a:xfrm>
            <a:off x="603504" y="3163824"/>
            <a:ext cx="5541264" cy="886968"/>
          </a:xfrm>
          <a:prstGeom prst="roundRect">
            <a:avLst>
              <a:gd name="adj" fmla="val 9000"/>
            </a:avLst>
          </a:prstGeom>
          <a:solidFill>
            <a:srgbClr val="EFF4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868680" y="3246120"/>
            <a:ext cx="2167128" cy="658368"/>
          </a:xfrm>
          <a:prstGeom prst="rect">
            <a:avLst/>
          </a:prstGeom>
          <a:noFill/>
        </p:spPr>
        <p:txBody>
          <a:bodyPr wrap="square" lIns="27432" tIns="0" rIns="27432" bIns="0" anchor="ctr">
            <a:spAutoFit/>
          </a:bodyPr>
          <a:lstStyle/>
          <a:p>
            <a:pPr algn="l">
              <a:lnSpc>
                <a:spcPct val="113000"/>
              </a:lnSpc>
              <a:spcAft>
                <a:spcPts val="0"/>
              </a:spcAft>
            </a:pPr>
            <a:r>
              <a:rPr sz="2500" b="1" dirty="0">
                <a:solidFill>
                  <a:srgbClr val="203B2C"/>
                </a:solidFill>
                <a:latin typeface="NanumSquare"/>
              </a:rPr>
              <a:t>≥24 / 30</a:t>
            </a:r>
          </a:p>
        </p:txBody>
      </p:sp>
      <p:sp>
        <p:nvSpPr>
          <p:cNvPr id="13" name="TextBox 12"/>
          <p:cNvSpPr txBox="1"/>
          <p:nvPr/>
        </p:nvSpPr>
        <p:spPr>
          <a:xfrm>
            <a:off x="2990088" y="3355848"/>
            <a:ext cx="2880360" cy="438912"/>
          </a:xfrm>
          <a:prstGeom prst="rect">
            <a:avLst/>
          </a:prstGeom>
          <a:noFill/>
        </p:spPr>
        <p:txBody>
          <a:bodyPr wrap="square" lIns="27432" tIns="0" rIns="27432" bIns="0" anchor="ctr">
            <a:spAutoFit/>
          </a:bodyPr>
          <a:lstStyle/>
          <a:p>
            <a:pPr algn="l">
              <a:lnSpc>
                <a:spcPct val="113000"/>
              </a:lnSpc>
              <a:spcAft>
                <a:spcPts val="0"/>
              </a:spcAft>
            </a:pPr>
            <a:r>
              <a:rPr sz="1500" b="0">
                <a:solidFill>
                  <a:srgbClr val="64766A"/>
                </a:solidFill>
                <a:latin typeface="NanumSquare"/>
              </a:rPr>
              <a:t>내용 왜곡 주장 검출</a:t>
            </a:r>
          </a:p>
        </p:txBody>
      </p:sp>
      <p:sp>
        <p:nvSpPr>
          <p:cNvPr id="14" name="Rounded Rectangle 13"/>
          <p:cNvSpPr/>
          <p:nvPr/>
        </p:nvSpPr>
        <p:spPr>
          <a:xfrm>
            <a:off x="603504" y="4215383"/>
            <a:ext cx="5541264" cy="886968"/>
          </a:xfrm>
          <a:prstGeom prst="roundRect">
            <a:avLst>
              <a:gd name="adj" fmla="val 9000"/>
            </a:avLst>
          </a:prstGeom>
          <a:solidFill>
            <a:srgbClr val="EFF4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868680" y="4297679"/>
            <a:ext cx="2167128" cy="658368"/>
          </a:xfrm>
          <a:prstGeom prst="rect">
            <a:avLst/>
          </a:prstGeom>
          <a:noFill/>
        </p:spPr>
        <p:txBody>
          <a:bodyPr wrap="square" lIns="27432" tIns="0" rIns="27432" bIns="0" anchor="ctr">
            <a:spAutoFit/>
          </a:bodyPr>
          <a:lstStyle/>
          <a:p>
            <a:pPr algn="l">
              <a:lnSpc>
                <a:spcPct val="113000"/>
              </a:lnSpc>
              <a:spcAft>
                <a:spcPts val="0"/>
              </a:spcAft>
            </a:pPr>
            <a:r>
              <a:rPr sz="2500" b="1" dirty="0">
                <a:solidFill>
                  <a:srgbClr val="203B2C"/>
                </a:solidFill>
                <a:latin typeface="NanumSquare"/>
              </a:rPr>
              <a:t>≥27 / 30</a:t>
            </a:r>
          </a:p>
        </p:txBody>
      </p:sp>
      <p:sp>
        <p:nvSpPr>
          <p:cNvPr id="16" name="TextBox 15"/>
          <p:cNvSpPr txBox="1"/>
          <p:nvPr/>
        </p:nvSpPr>
        <p:spPr>
          <a:xfrm>
            <a:off x="2990088" y="4407407"/>
            <a:ext cx="2880360" cy="438912"/>
          </a:xfrm>
          <a:prstGeom prst="rect">
            <a:avLst/>
          </a:prstGeom>
          <a:noFill/>
        </p:spPr>
        <p:txBody>
          <a:bodyPr wrap="square" lIns="27432" tIns="0" rIns="27432" bIns="0" anchor="ctr">
            <a:spAutoFit/>
          </a:bodyPr>
          <a:lstStyle/>
          <a:p>
            <a:pPr algn="l">
              <a:lnSpc>
                <a:spcPct val="113000"/>
              </a:lnSpc>
              <a:spcAft>
                <a:spcPts val="0"/>
              </a:spcAft>
            </a:pPr>
            <a:r>
              <a:rPr sz="1500" b="0" dirty="0" err="1">
                <a:solidFill>
                  <a:srgbClr val="64766A"/>
                </a:solidFill>
                <a:latin typeface="NanumSquare"/>
              </a:rPr>
              <a:t>정상</a:t>
            </a:r>
            <a:r>
              <a:rPr sz="1500" b="0" dirty="0">
                <a:solidFill>
                  <a:srgbClr val="64766A"/>
                </a:solidFill>
                <a:latin typeface="NanumSquare"/>
              </a:rPr>
              <a:t> </a:t>
            </a:r>
            <a:r>
              <a:rPr sz="1500" b="0" dirty="0" err="1">
                <a:solidFill>
                  <a:srgbClr val="64766A"/>
                </a:solidFill>
                <a:latin typeface="NanumSquare"/>
              </a:rPr>
              <a:t>주장</a:t>
            </a:r>
            <a:r>
              <a:rPr sz="1500" b="0" dirty="0">
                <a:solidFill>
                  <a:srgbClr val="64766A"/>
                </a:solidFill>
                <a:latin typeface="NanumSquare"/>
              </a:rPr>
              <a:t> </a:t>
            </a:r>
            <a:r>
              <a:rPr sz="1500" b="0" dirty="0" err="1">
                <a:solidFill>
                  <a:srgbClr val="64766A"/>
                </a:solidFill>
                <a:latin typeface="NanumSquare"/>
              </a:rPr>
              <a:t>통과</a:t>
            </a:r>
            <a:endParaRPr sz="1500" b="0" dirty="0">
              <a:solidFill>
                <a:srgbClr val="64766A"/>
              </a:solidFill>
              <a:latin typeface="NanumSquare"/>
            </a:endParaRPr>
          </a:p>
        </p:txBody>
      </p:sp>
      <p:sp>
        <p:nvSpPr>
          <p:cNvPr id="17" name="Rounded Rectangle 16"/>
          <p:cNvSpPr/>
          <p:nvPr/>
        </p:nvSpPr>
        <p:spPr>
          <a:xfrm>
            <a:off x="6492240" y="2112264"/>
            <a:ext cx="5056632" cy="2990088"/>
          </a:xfrm>
          <a:prstGeom prst="roundRect">
            <a:avLst>
              <a:gd name="adj" fmla="val 9000"/>
            </a:avLst>
          </a:prstGeom>
          <a:solidFill>
            <a:srgbClr val="F7F9F7"/>
          </a:solidFill>
          <a:ln w="10160">
            <a:solidFill>
              <a:srgbClr val="DCE6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766560" y="2395728"/>
            <a:ext cx="4480560" cy="402336"/>
          </a:xfrm>
          <a:prstGeom prst="rect">
            <a:avLst/>
          </a:prstGeom>
          <a:noFill/>
        </p:spPr>
        <p:txBody>
          <a:bodyPr wrap="square" lIns="27432" tIns="0" rIns="27432" bIns="0" anchor="ctr">
            <a:spAutoFit/>
          </a:bodyPr>
          <a:lstStyle/>
          <a:p>
            <a:pPr algn="l">
              <a:lnSpc>
                <a:spcPct val="113000"/>
              </a:lnSpc>
              <a:spcAft>
                <a:spcPts val="0"/>
              </a:spcAft>
            </a:pPr>
            <a:r>
              <a:rPr sz="1700" b="1" dirty="0">
                <a:solidFill>
                  <a:srgbClr val="203B2C"/>
                </a:solidFill>
                <a:latin typeface="NanumSquare"/>
              </a:rPr>
              <a:t>전 </a:t>
            </a:r>
            <a:r>
              <a:rPr sz="1700" b="1" dirty="0" err="1">
                <a:solidFill>
                  <a:srgbClr val="203B2C"/>
                </a:solidFill>
                <a:latin typeface="NanumSquare"/>
              </a:rPr>
              <a:t>주장</a:t>
            </a:r>
            <a:r>
              <a:rPr sz="1700" b="1" dirty="0">
                <a:solidFill>
                  <a:srgbClr val="203B2C"/>
                </a:solidFill>
                <a:latin typeface="NanumSquare"/>
              </a:rPr>
              <a:t> </a:t>
            </a:r>
            <a:r>
              <a:rPr sz="1700" b="1" dirty="0" err="1">
                <a:solidFill>
                  <a:srgbClr val="203B2C"/>
                </a:solidFill>
                <a:latin typeface="NanumSquare"/>
              </a:rPr>
              <a:t>검증</a:t>
            </a:r>
            <a:r>
              <a:rPr sz="1700" b="1" dirty="0">
                <a:solidFill>
                  <a:srgbClr val="203B2C"/>
                </a:solidFill>
                <a:latin typeface="NanumSquare"/>
              </a:rPr>
              <a:t> </a:t>
            </a:r>
            <a:r>
              <a:rPr sz="1700" b="1" dirty="0" err="1">
                <a:solidFill>
                  <a:srgbClr val="203B2C"/>
                </a:solidFill>
                <a:latin typeface="NanumSquare"/>
              </a:rPr>
              <a:t>결과</a:t>
            </a:r>
            <a:r>
              <a:rPr sz="1700" b="1" dirty="0">
                <a:solidFill>
                  <a:srgbClr val="203B2C"/>
                </a:solidFill>
                <a:latin typeface="NanumSquare"/>
              </a:rPr>
              <a:t> </a:t>
            </a:r>
            <a:r>
              <a:rPr sz="1700" b="1" dirty="0" err="1">
                <a:solidFill>
                  <a:srgbClr val="203B2C"/>
                </a:solidFill>
                <a:latin typeface="NanumSquare"/>
              </a:rPr>
              <a:t>부여</a:t>
            </a:r>
            <a:endParaRPr sz="1700" b="1" dirty="0">
              <a:solidFill>
                <a:srgbClr val="203B2C"/>
              </a:solidFill>
              <a:latin typeface="NanumSquare"/>
            </a:endParaRPr>
          </a:p>
        </p:txBody>
      </p:sp>
      <p:sp>
        <p:nvSpPr>
          <p:cNvPr id="19" name="TextBox 18"/>
          <p:cNvSpPr txBox="1"/>
          <p:nvPr/>
        </p:nvSpPr>
        <p:spPr>
          <a:xfrm>
            <a:off x="6766560" y="3054096"/>
            <a:ext cx="4434840" cy="548640"/>
          </a:xfrm>
          <a:prstGeom prst="rect">
            <a:avLst/>
          </a:prstGeom>
          <a:noFill/>
        </p:spPr>
        <p:txBody>
          <a:bodyPr wrap="square" lIns="27432" tIns="0" rIns="27432" bIns="0" anchor="ctr">
            <a:spAutoFit/>
          </a:bodyPr>
          <a:lstStyle/>
          <a:p>
            <a:pPr algn="l">
              <a:lnSpc>
                <a:spcPct val="113000"/>
              </a:lnSpc>
              <a:spcAft>
                <a:spcPts val="0"/>
              </a:spcAft>
            </a:pPr>
            <a:r>
              <a:rPr sz="1600" b="0">
                <a:solidFill>
                  <a:srgbClr val="203B2C"/>
                </a:solidFill>
                <a:latin typeface="NanumSquare"/>
              </a:rPr>
              <a:t>핵심 숫자·날짜는 코드로 전수 검사</a:t>
            </a:r>
          </a:p>
        </p:txBody>
      </p:sp>
      <p:sp>
        <p:nvSpPr>
          <p:cNvPr id="20" name="Rounded Rectangle 19"/>
          <p:cNvSpPr/>
          <p:nvPr/>
        </p:nvSpPr>
        <p:spPr>
          <a:xfrm>
            <a:off x="6766560" y="3822191"/>
            <a:ext cx="4425696" cy="576072"/>
          </a:xfrm>
          <a:prstGeom prst="roundRect">
            <a:avLst>
              <a:gd name="adj" fmla="val 9000"/>
            </a:avLst>
          </a:prstGeom>
          <a:solidFill>
            <a:srgbClr val="1D3B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6858000" y="3913632"/>
            <a:ext cx="4251960" cy="374904"/>
          </a:xfrm>
          <a:prstGeom prst="rect">
            <a:avLst/>
          </a:prstGeom>
          <a:noFill/>
        </p:spPr>
        <p:txBody>
          <a:bodyPr wrap="square" lIns="27432" tIns="0" rIns="27432" bIns="0" anchor="ctr">
            <a:spAutoFit/>
          </a:bodyPr>
          <a:lstStyle/>
          <a:p>
            <a:pPr algn="ctr">
              <a:lnSpc>
                <a:spcPct val="113000"/>
              </a:lnSpc>
              <a:spcAft>
                <a:spcPts val="0"/>
              </a:spcAft>
            </a:pPr>
            <a:r>
              <a:rPr sz="1500" b="1">
                <a:solidFill>
                  <a:srgbClr val="FFFFFF"/>
                </a:solidFill>
                <a:latin typeface="NanumSquare"/>
              </a:rPr>
              <a:t>반려 · 미검증 · 핵심 수치 오류 = 0건</a:t>
            </a:r>
          </a:p>
        </p:txBody>
      </p:sp>
      <p:sp>
        <p:nvSpPr>
          <p:cNvPr id="22" name="TextBox 21"/>
          <p:cNvSpPr txBox="1"/>
          <p:nvPr/>
        </p:nvSpPr>
        <p:spPr>
          <a:xfrm>
            <a:off x="6766560" y="4590288"/>
            <a:ext cx="4416552" cy="384048"/>
          </a:xfrm>
          <a:prstGeom prst="rect">
            <a:avLst/>
          </a:prstGeom>
          <a:noFill/>
        </p:spPr>
        <p:txBody>
          <a:bodyPr wrap="square" lIns="27432" tIns="0" rIns="27432" bIns="0" anchor="ctr">
            <a:spAutoFit/>
          </a:bodyPr>
          <a:lstStyle/>
          <a:p>
            <a:pPr algn="l">
              <a:lnSpc>
                <a:spcPct val="113000"/>
              </a:lnSpc>
              <a:spcAft>
                <a:spcPts val="0"/>
              </a:spcAft>
            </a:pPr>
            <a:r>
              <a:rPr sz="1500" b="1">
                <a:solidFill>
                  <a:srgbClr val="A34E44"/>
                </a:solidFill>
                <a:latin typeface="NanumSquare"/>
              </a:rPr>
              <a:t>해결되지 않으면 공개하지 않음</a:t>
            </a:r>
          </a:p>
        </p:txBody>
      </p:sp>
      <p:sp>
        <p:nvSpPr>
          <p:cNvPr id="23" name="Rounded Rectangle 22"/>
          <p:cNvSpPr/>
          <p:nvPr/>
        </p:nvSpPr>
        <p:spPr>
          <a:xfrm>
            <a:off x="603504" y="5486400"/>
            <a:ext cx="10945368" cy="457200"/>
          </a:xfrm>
          <a:prstGeom prst="roundRect">
            <a:avLst>
              <a:gd name="adj" fmla="val 9000"/>
            </a:avLst>
          </a:prstGeom>
          <a:solidFill>
            <a:srgbClr val="FFF6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832104" y="5559552"/>
            <a:ext cx="10469880" cy="310896"/>
          </a:xfrm>
          <a:prstGeom prst="rect">
            <a:avLst/>
          </a:prstGeom>
          <a:noFill/>
        </p:spPr>
        <p:txBody>
          <a:bodyPr wrap="square" lIns="27432" tIns="0" rIns="27432" bIns="0" anchor="ctr">
            <a:spAutoFit/>
          </a:bodyPr>
          <a:lstStyle/>
          <a:p>
            <a:pPr algn="l">
              <a:lnSpc>
                <a:spcPct val="113000"/>
              </a:lnSpc>
              <a:spcAft>
                <a:spcPts val="0"/>
              </a:spcAft>
            </a:pPr>
            <a:r>
              <a:rPr sz="1400" b="0">
                <a:solidFill>
                  <a:srgbClr val="203B2C"/>
                </a:solidFill>
                <a:latin typeface="NanumSquare"/>
              </a:rPr>
              <a:t>※ 수치는 달성 성능이 아니라 구현 후 평가할 초기 수용 기준</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57784" y="320040"/>
            <a:ext cx="10561320" cy="676656"/>
          </a:xfrm>
          <a:prstGeom prst="rect">
            <a:avLst/>
          </a:prstGeom>
          <a:noFill/>
        </p:spPr>
        <p:txBody>
          <a:bodyPr wrap="square" lIns="27432" tIns="0" rIns="27432" bIns="0" anchor="ctr">
            <a:spAutoFit/>
          </a:bodyPr>
          <a:lstStyle/>
          <a:p>
            <a:pPr algn="l">
              <a:lnSpc>
                <a:spcPct val="113000"/>
              </a:lnSpc>
              <a:spcAft>
                <a:spcPts val="0"/>
              </a:spcAft>
            </a:pPr>
            <a:r>
              <a:rPr sz="3000" b="1">
                <a:solidFill>
                  <a:srgbClr val="203B2C"/>
                </a:solidFill>
                <a:latin typeface="NanumSquare"/>
              </a:rPr>
              <a:t>백테스트로 성과를 검증하고, 근거를 설명한다</a:t>
            </a:r>
          </a:p>
        </p:txBody>
      </p:sp>
      <p:cxnSp>
        <p:nvCxnSpPr>
          <p:cNvPr id="3" name="Connector 2"/>
          <p:cNvCxnSpPr/>
          <p:nvPr/>
        </p:nvCxnSpPr>
        <p:spPr>
          <a:xfrm>
            <a:off x="594360" y="1188720"/>
            <a:ext cx="11000232" cy="0"/>
          </a:xfrm>
          <a:prstGeom prst="line">
            <a:avLst/>
          </a:prstGeom>
          <a:ln w="12700">
            <a:solidFill>
              <a:srgbClr val="DCE6DD"/>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585216" y="6373368"/>
            <a:ext cx="5486400" cy="192024"/>
          </a:xfrm>
          <a:prstGeom prst="rect">
            <a:avLst/>
          </a:prstGeom>
          <a:noFill/>
        </p:spPr>
        <p:txBody>
          <a:bodyPr wrap="square" lIns="27432" tIns="0" rIns="27432" bIns="0" anchor="ctr">
            <a:spAutoFit/>
          </a:bodyPr>
          <a:lstStyle/>
          <a:p>
            <a:pPr algn="l">
              <a:lnSpc>
                <a:spcPct val="113000"/>
              </a:lnSpc>
              <a:spcAft>
                <a:spcPts val="0"/>
              </a:spcAft>
            </a:pPr>
            <a:r>
              <a:rPr sz="1000" b="0">
                <a:solidFill>
                  <a:srgbClr val="64766A"/>
                </a:solidFill>
                <a:latin typeface="NanumSquare"/>
              </a:rPr>
              <a:t>개미구조대  ·  AI 캡스톤 디자인</a:t>
            </a:r>
          </a:p>
        </p:txBody>
      </p:sp>
      <p:sp>
        <p:nvSpPr>
          <p:cNvPr id="5" name="TextBox 4"/>
          <p:cNvSpPr txBox="1"/>
          <p:nvPr/>
        </p:nvSpPr>
        <p:spPr>
          <a:xfrm>
            <a:off x="11109960" y="6364224"/>
            <a:ext cx="457200" cy="219456"/>
          </a:xfrm>
          <a:prstGeom prst="rect">
            <a:avLst/>
          </a:prstGeom>
          <a:noFill/>
        </p:spPr>
        <p:txBody>
          <a:bodyPr wrap="square" lIns="27432" tIns="0" rIns="27432" bIns="0" anchor="ctr">
            <a:spAutoFit/>
          </a:bodyPr>
          <a:lstStyle/>
          <a:p>
            <a:pPr algn="r">
              <a:lnSpc>
                <a:spcPct val="113000"/>
              </a:lnSpc>
              <a:spcAft>
                <a:spcPts val="0"/>
              </a:spcAft>
            </a:pPr>
            <a:r>
              <a:rPr sz="1100" b="0">
                <a:solidFill>
                  <a:srgbClr val="64766A"/>
                </a:solidFill>
                <a:latin typeface="NanumSquare"/>
              </a:rPr>
              <a:t>10</a:t>
            </a:r>
          </a:p>
        </p:txBody>
      </p:sp>
      <p:sp>
        <p:nvSpPr>
          <p:cNvPr id="6" name="TextBox 5"/>
          <p:cNvSpPr txBox="1"/>
          <p:nvPr/>
        </p:nvSpPr>
        <p:spPr>
          <a:xfrm>
            <a:off x="603504" y="1609344"/>
            <a:ext cx="10972800" cy="374904"/>
          </a:xfrm>
          <a:prstGeom prst="rect">
            <a:avLst/>
          </a:prstGeom>
          <a:noFill/>
        </p:spPr>
        <p:txBody>
          <a:bodyPr wrap="square" lIns="27432" tIns="0" rIns="27432" bIns="0" anchor="ctr">
            <a:spAutoFit/>
          </a:bodyPr>
          <a:lstStyle/>
          <a:p>
            <a:pPr algn="l">
              <a:lnSpc>
                <a:spcPct val="113000"/>
              </a:lnSpc>
              <a:spcAft>
                <a:spcPts val="0"/>
              </a:spcAft>
            </a:pPr>
            <a:r>
              <a:rPr sz="1800" b="1">
                <a:solidFill>
                  <a:srgbClr val="3B7562"/>
                </a:solidFill>
                <a:latin typeface="NanumSquare"/>
              </a:rPr>
              <a:t>동일한 종목군 · 기간 · 거래조건에서 다섯 방법 비교</a:t>
            </a:r>
          </a:p>
        </p:txBody>
      </p:sp>
      <p:sp>
        <p:nvSpPr>
          <p:cNvPr id="7" name="Rounded Rectangle 6"/>
          <p:cNvSpPr/>
          <p:nvPr/>
        </p:nvSpPr>
        <p:spPr>
          <a:xfrm>
            <a:off x="603504" y="2185416"/>
            <a:ext cx="2075688" cy="1216152"/>
          </a:xfrm>
          <a:prstGeom prst="roundRect">
            <a:avLst>
              <a:gd name="adj" fmla="val 9000"/>
            </a:avLst>
          </a:prstGeom>
          <a:solidFill>
            <a:srgbClr val="EFF4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85800" y="2377440"/>
            <a:ext cx="1901952" cy="832104"/>
          </a:xfrm>
          <a:prstGeom prst="rect">
            <a:avLst/>
          </a:prstGeom>
          <a:noFill/>
        </p:spPr>
        <p:txBody>
          <a:bodyPr wrap="square" lIns="27432" tIns="0" rIns="27432" bIns="0" anchor="ctr">
            <a:spAutoFit/>
          </a:bodyPr>
          <a:lstStyle/>
          <a:p>
            <a:pPr algn="ctr">
              <a:lnSpc>
                <a:spcPct val="113000"/>
              </a:lnSpc>
              <a:spcAft>
                <a:spcPts val="0"/>
              </a:spcAft>
            </a:pPr>
            <a:r>
              <a:rPr sz="1700" b="1" dirty="0" err="1">
                <a:solidFill>
                  <a:srgbClr val="203B2C"/>
                </a:solidFill>
                <a:latin typeface="NanumSquare"/>
              </a:rPr>
              <a:t>동일가중</a:t>
            </a:r>
            <a:endParaRPr sz="1700" b="1" dirty="0">
              <a:solidFill>
                <a:srgbClr val="203B2C"/>
              </a:solidFill>
              <a:latin typeface="NanumSquare"/>
            </a:endParaRPr>
          </a:p>
          <a:p>
            <a:pPr algn="ctr">
              <a:lnSpc>
                <a:spcPct val="113000"/>
              </a:lnSpc>
              <a:spcAft>
                <a:spcPts val="0"/>
              </a:spcAft>
            </a:pPr>
            <a:r>
              <a:rPr sz="1700" b="1" dirty="0">
                <a:solidFill>
                  <a:srgbClr val="203B2C"/>
                </a:solidFill>
                <a:latin typeface="NanumSquare"/>
              </a:rPr>
              <a:t>(EW)</a:t>
            </a:r>
          </a:p>
        </p:txBody>
      </p:sp>
      <p:sp>
        <p:nvSpPr>
          <p:cNvPr id="9" name="Rounded Rectangle 8"/>
          <p:cNvSpPr/>
          <p:nvPr/>
        </p:nvSpPr>
        <p:spPr>
          <a:xfrm>
            <a:off x="2852928" y="2185416"/>
            <a:ext cx="2075688" cy="1216152"/>
          </a:xfrm>
          <a:prstGeom prst="roundRect">
            <a:avLst>
              <a:gd name="adj" fmla="val 9000"/>
            </a:avLst>
          </a:prstGeom>
          <a:solidFill>
            <a:srgbClr val="EFF4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2935224" y="2377440"/>
            <a:ext cx="1901952" cy="832104"/>
          </a:xfrm>
          <a:prstGeom prst="rect">
            <a:avLst/>
          </a:prstGeom>
          <a:noFill/>
        </p:spPr>
        <p:txBody>
          <a:bodyPr wrap="square" lIns="27432" tIns="0" rIns="27432" bIns="0" anchor="ctr">
            <a:spAutoFit/>
          </a:bodyPr>
          <a:lstStyle/>
          <a:p>
            <a:pPr algn="ctr">
              <a:lnSpc>
                <a:spcPct val="113000"/>
              </a:lnSpc>
              <a:spcAft>
                <a:spcPts val="0"/>
              </a:spcAft>
            </a:pPr>
            <a:r>
              <a:rPr sz="1700" b="1" dirty="0">
                <a:solidFill>
                  <a:srgbClr val="203B2C"/>
                </a:solidFill>
                <a:latin typeface="NanumSquare"/>
              </a:rPr>
              <a:t>STABLE</a:t>
            </a:r>
          </a:p>
          <a:p>
            <a:pPr algn="ctr">
              <a:lnSpc>
                <a:spcPct val="113000"/>
              </a:lnSpc>
              <a:spcAft>
                <a:spcPts val="0"/>
              </a:spcAft>
            </a:pPr>
            <a:r>
              <a:rPr sz="1700" b="1" dirty="0" err="1">
                <a:solidFill>
                  <a:srgbClr val="203B2C"/>
                </a:solidFill>
                <a:latin typeface="NanumSquare"/>
              </a:rPr>
              <a:t>단독</a:t>
            </a:r>
            <a:endParaRPr sz="1700" b="1" dirty="0">
              <a:solidFill>
                <a:srgbClr val="203B2C"/>
              </a:solidFill>
              <a:latin typeface="NanumSquare"/>
            </a:endParaRPr>
          </a:p>
        </p:txBody>
      </p:sp>
      <p:sp>
        <p:nvSpPr>
          <p:cNvPr id="11" name="Rounded Rectangle 10"/>
          <p:cNvSpPr/>
          <p:nvPr/>
        </p:nvSpPr>
        <p:spPr>
          <a:xfrm>
            <a:off x="5102352" y="2185416"/>
            <a:ext cx="2075688" cy="1216152"/>
          </a:xfrm>
          <a:prstGeom prst="roundRect">
            <a:avLst>
              <a:gd name="adj" fmla="val 9000"/>
            </a:avLst>
          </a:prstGeom>
          <a:solidFill>
            <a:srgbClr val="EFF4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5184648" y="2377440"/>
            <a:ext cx="1901952" cy="832104"/>
          </a:xfrm>
          <a:prstGeom prst="rect">
            <a:avLst/>
          </a:prstGeom>
          <a:noFill/>
        </p:spPr>
        <p:txBody>
          <a:bodyPr wrap="square" lIns="27432" tIns="0" rIns="27432" bIns="0" anchor="ctr">
            <a:spAutoFit/>
          </a:bodyPr>
          <a:lstStyle/>
          <a:p>
            <a:pPr algn="ctr">
              <a:lnSpc>
                <a:spcPct val="113000"/>
              </a:lnSpc>
              <a:spcAft>
                <a:spcPts val="0"/>
              </a:spcAft>
            </a:pPr>
            <a:r>
              <a:rPr sz="1700" b="1">
                <a:solidFill>
                  <a:srgbClr val="203B2C"/>
                </a:solidFill>
                <a:latin typeface="NanumSquare"/>
              </a:rPr>
              <a:t>STABLE</a:t>
            </a:r>
          </a:p>
          <a:p>
            <a:pPr algn="ctr">
              <a:lnSpc>
                <a:spcPct val="113000"/>
              </a:lnSpc>
              <a:spcAft>
                <a:spcPts val="0"/>
              </a:spcAft>
            </a:pPr>
            <a:r>
              <a:rPr sz="1700" b="1">
                <a:solidFill>
                  <a:srgbClr val="203B2C"/>
                </a:solidFill>
                <a:latin typeface="NanumSquare"/>
              </a:rPr>
              <a:t>+ Risk</a:t>
            </a:r>
          </a:p>
        </p:txBody>
      </p:sp>
      <p:sp>
        <p:nvSpPr>
          <p:cNvPr id="13" name="Rounded Rectangle 12"/>
          <p:cNvSpPr/>
          <p:nvPr/>
        </p:nvSpPr>
        <p:spPr>
          <a:xfrm>
            <a:off x="7351775" y="2185416"/>
            <a:ext cx="2075688" cy="1216152"/>
          </a:xfrm>
          <a:prstGeom prst="roundRect">
            <a:avLst>
              <a:gd name="adj" fmla="val 9000"/>
            </a:avLst>
          </a:prstGeom>
          <a:solidFill>
            <a:srgbClr val="EFF4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434071" y="2377440"/>
            <a:ext cx="1901952" cy="832104"/>
          </a:xfrm>
          <a:prstGeom prst="rect">
            <a:avLst/>
          </a:prstGeom>
          <a:noFill/>
        </p:spPr>
        <p:txBody>
          <a:bodyPr wrap="square" lIns="27432" tIns="0" rIns="27432" bIns="0" anchor="ctr">
            <a:spAutoFit/>
          </a:bodyPr>
          <a:lstStyle/>
          <a:p>
            <a:pPr algn="ctr">
              <a:lnSpc>
                <a:spcPct val="113000"/>
              </a:lnSpc>
              <a:spcAft>
                <a:spcPts val="0"/>
              </a:spcAft>
            </a:pPr>
            <a:r>
              <a:rPr sz="1700" b="1" dirty="0">
                <a:solidFill>
                  <a:srgbClr val="203B2C"/>
                </a:solidFill>
                <a:latin typeface="NanumSquare"/>
              </a:rPr>
              <a:t>STABLE</a:t>
            </a:r>
          </a:p>
          <a:p>
            <a:pPr algn="ctr">
              <a:lnSpc>
                <a:spcPct val="113000"/>
              </a:lnSpc>
              <a:spcAft>
                <a:spcPts val="0"/>
              </a:spcAft>
            </a:pPr>
            <a:r>
              <a:rPr sz="1700" b="1" dirty="0">
                <a:solidFill>
                  <a:srgbClr val="203B2C"/>
                </a:solidFill>
                <a:latin typeface="NanumSquare"/>
              </a:rPr>
              <a:t>+ Report</a:t>
            </a:r>
          </a:p>
        </p:txBody>
      </p:sp>
      <p:sp>
        <p:nvSpPr>
          <p:cNvPr id="15" name="Rounded Rectangle 14"/>
          <p:cNvSpPr/>
          <p:nvPr/>
        </p:nvSpPr>
        <p:spPr>
          <a:xfrm>
            <a:off x="9601200" y="2185416"/>
            <a:ext cx="2075688" cy="1216152"/>
          </a:xfrm>
          <a:prstGeom prst="roundRect">
            <a:avLst>
              <a:gd name="adj" fmla="val 9000"/>
            </a:avLst>
          </a:prstGeom>
          <a:solidFill>
            <a:srgbClr val="1D3B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9683496" y="2377440"/>
            <a:ext cx="1901952" cy="832104"/>
          </a:xfrm>
          <a:prstGeom prst="rect">
            <a:avLst/>
          </a:prstGeom>
          <a:noFill/>
        </p:spPr>
        <p:txBody>
          <a:bodyPr wrap="square" lIns="27432" tIns="0" rIns="27432" bIns="0" anchor="ctr">
            <a:spAutoFit/>
          </a:bodyPr>
          <a:lstStyle/>
          <a:p>
            <a:pPr algn="ctr">
              <a:lnSpc>
                <a:spcPct val="113000"/>
              </a:lnSpc>
              <a:spcAft>
                <a:spcPts val="0"/>
              </a:spcAft>
            </a:pPr>
            <a:r>
              <a:rPr sz="1700" b="1" dirty="0">
                <a:solidFill>
                  <a:srgbClr val="FFFFFF"/>
                </a:solidFill>
                <a:latin typeface="NanumSquare"/>
              </a:rPr>
              <a:t>STABLE</a:t>
            </a:r>
          </a:p>
          <a:p>
            <a:pPr algn="ctr">
              <a:lnSpc>
                <a:spcPct val="113000"/>
              </a:lnSpc>
              <a:spcAft>
                <a:spcPts val="0"/>
              </a:spcAft>
            </a:pPr>
            <a:r>
              <a:rPr sz="1700" b="1" dirty="0">
                <a:solidFill>
                  <a:srgbClr val="FFFFFF"/>
                </a:solidFill>
                <a:latin typeface="NanumSquare"/>
              </a:rPr>
              <a:t>+ Report + Risk</a:t>
            </a:r>
          </a:p>
        </p:txBody>
      </p:sp>
      <p:sp>
        <p:nvSpPr>
          <p:cNvPr id="17" name="Rounded Rectangle 16"/>
          <p:cNvSpPr/>
          <p:nvPr/>
        </p:nvSpPr>
        <p:spPr>
          <a:xfrm>
            <a:off x="603504" y="3703320"/>
            <a:ext cx="10972800" cy="886968"/>
          </a:xfrm>
          <a:prstGeom prst="roundRect">
            <a:avLst>
              <a:gd name="adj" fmla="val 9000"/>
            </a:avLst>
          </a:prstGeom>
          <a:solidFill>
            <a:srgbClr val="F7F9F7"/>
          </a:solidFill>
          <a:ln w="10160">
            <a:solidFill>
              <a:srgbClr val="DCE6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841248" y="3931920"/>
            <a:ext cx="1389888" cy="393192"/>
          </a:xfrm>
          <a:prstGeom prst="rect">
            <a:avLst/>
          </a:prstGeom>
          <a:noFill/>
        </p:spPr>
        <p:txBody>
          <a:bodyPr wrap="square" lIns="27432" tIns="0" rIns="27432" bIns="0" anchor="ctr">
            <a:spAutoFit/>
          </a:bodyPr>
          <a:lstStyle/>
          <a:p>
            <a:pPr algn="l">
              <a:lnSpc>
                <a:spcPct val="113000"/>
              </a:lnSpc>
              <a:spcAft>
                <a:spcPts val="0"/>
              </a:spcAft>
            </a:pPr>
            <a:r>
              <a:rPr sz="1700" b="1">
                <a:solidFill>
                  <a:srgbClr val="3B7562"/>
                </a:solidFill>
                <a:latin typeface="NanumSquare"/>
              </a:rPr>
              <a:t>통합 평가</a:t>
            </a:r>
          </a:p>
        </p:txBody>
      </p:sp>
      <p:sp>
        <p:nvSpPr>
          <p:cNvPr id="19" name="TextBox 18"/>
          <p:cNvSpPr txBox="1"/>
          <p:nvPr/>
        </p:nvSpPr>
        <p:spPr>
          <a:xfrm>
            <a:off x="2185416" y="3913632"/>
            <a:ext cx="9098280" cy="457200"/>
          </a:xfrm>
          <a:prstGeom prst="rect">
            <a:avLst/>
          </a:prstGeom>
          <a:noFill/>
        </p:spPr>
        <p:txBody>
          <a:bodyPr wrap="square" lIns="27432" tIns="0" rIns="27432" bIns="0" anchor="ctr">
            <a:spAutoFit/>
          </a:bodyPr>
          <a:lstStyle/>
          <a:p>
            <a:pPr algn="l">
              <a:lnSpc>
                <a:spcPct val="113000"/>
              </a:lnSpc>
              <a:spcAft>
                <a:spcPts val="0"/>
              </a:spcAft>
            </a:pPr>
            <a:r>
              <a:rPr sz="1600" b="1" dirty="0">
                <a:solidFill>
                  <a:srgbClr val="203B2C"/>
                </a:solidFill>
                <a:latin typeface="NanumSquare"/>
              </a:rPr>
              <a:t>10개 </a:t>
            </a:r>
            <a:r>
              <a:rPr sz="1600" b="1" dirty="0" err="1">
                <a:solidFill>
                  <a:srgbClr val="203B2C"/>
                </a:solidFill>
                <a:latin typeface="NanumSquare"/>
              </a:rPr>
              <a:t>오프셋</a:t>
            </a:r>
            <a:r>
              <a:rPr sz="1600" b="1" dirty="0">
                <a:solidFill>
                  <a:srgbClr val="203B2C"/>
                </a:solidFill>
                <a:latin typeface="NanumSquare"/>
              </a:rPr>
              <a:t>  ·  </a:t>
            </a:r>
            <a:r>
              <a:rPr sz="1600" b="1" dirty="0" err="1">
                <a:solidFill>
                  <a:srgbClr val="203B2C"/>
                </a:solidFill>
                <a:latin typeface="NanumSquare"/>
              </a:rPr>
              <a:t>왕복비용</a:t>
            </a:r>
            <a:r>
              <a:rPr sz="1600" b="1" dirty="0">
                <a:solidFill>
                  <a:srgbClr val="203B2C"/>
                </a:solidFill>
                <a:latin typeface="NanumSquare"/>
              </a:rPr>
              <a:t> 30bps / 60bps  ·  Sharpe / MDD / </a:t>
            </a:r>
            <a:r>
              <a:rPr sz="1600" b="1" dirty="0" err="1">
                <a:solidFill>
                  <a:srgbClr val="203B2C"/>
                </a:solidFill>
                <a:latin typeface="NanumSquare"/>
              </a:rPr>
              <a:t>변동성</a:t>
            </a:r>
            <a:r>
              <a:rPr sz="1600" b="1" dirty="0">
                <a:solidFill>
                  <a:srgbClr val="203B2C"/>
                </a:solidFill>
                <a:latin typeface="NanumSquare"/>
              </a:rPr>
              <a:t> / </a:t>
            </a:r>
            <a:r>
              <a:rPr sz="1600" b="1" dirty="0" err="1">
                <a:solidFill>
                  <a:srgbClr val="203B2C"/>
                </a:solidFill>
                <a:latin typeface="NanumSquare"/>
              </a:rPr>
              <a:t>섹터</a:t>
            </a:r>
            <a:r>
              <a:rPr sz="1600" b="1" dirty="0">
                <a:solidFill>
                  <a:srgbClr val="203B2C"/>
                </a:solidFill>
                <a:latin typeface="NanumSquare"/>
              </a:rPr>
              <a:t> </a:t>
            </a:r>
            <a:r>
              <a:rPr sz="1600" b="1" dirty="0" err="1">
                <a:solidFill>
                  <a:srgbClr val="203B2C"/>
                </a:solidFill>
                <a:latin typeface="NanumSquare"/>
              </a:rPr>
              <a:t>집중도</a:t>
            </a:r>
            <a:endParaRPr sz="1600" b="1" dirty="0">
              <a:solidFill>
                <a:srgbClr val="203B2C"/>
              </a:solidFill>
              <a:latin typeface="NanumSquare"/>
            </a:endParaRPr>
          </a:p>
        </p:txBody>
      </p:sp>
      <p:sp>
        <p:nvSpPr>
          <p:cNvPr id="20" name="Rounded Rectangle 19"/>
          <p:cNvSpPr/>
          <p:nvPr/>
        </p:nvSpPr>
        <p:spPr>
          <a:xfrm>
            <a:off x="603504" y="4892040"/>
            <a:ext cx="10972800" cy="630936"/>
          </a:xfrm>
          <a:prstGeom prst="roundRect">
            <a:avLst>
              <a:gd name="adj" fmla="val 9000"/>
            </a:avLst>
          </a:prstGeom>
          <a:solidFill>
            <a:srgbClr val="FFF6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832104" y="5029200"/>
            <a:ext cx="10469880" cy="347472"/>
          </a:xfrm>
          <a:prstGeom prst="rect">
            <a:avLst/>
          </a:prstGeom>
          <a:noFill/>
        </p:spPr>
        <p:txBody>
          <a:bodyPr wrap="square" lIns="27432" tIns="0" rIns="27432" bIns="0" anchor="ctr">
            <a:spAutoFit/>
          </a:bodyPr>
          <a:lstStyle/>
          <a:p>
            <a:pPr algn="l">
              <a:lnSpc>
                <a:spcPct val="113000"/>
              </a:lnSpc>
              <a:spcAft>
                <a:spcPts val="0"/>
              </a:spcAft>
            </a:pPr>
            <a:r>
              <a:rPr sz="1600" b="1" dirty="0" err="1">
                <a:solidFill>
                  <a:srgbClr val="203B2C"/>
                </a:solidFill>
                <a:latin typeface="NanumSquare"/>
              </a:rPr>
              <a:t>비범위</a:t>
            </a:r>
            <a:r>
              <a:rPr sz="1600" b="1" dirty="0">
                <a:solidFill>
                  <a:srgbClr val="203B2C"/>
                </a:solidFill>
                <a:latin typeface="NanumSquare"/>
              </a:rPr>
              <a:t>: </a:t>
            </a:r>
            <a:r>
              <a:rPr sz="1600" b="1" dirty="0" err="1">
                <a:solidFill>
                  <a:srgbClr val="203B2C"/>
                </a:solidFill>
                <a:latin typeface="NanumSquare"/>
              </a:rPr>
              <a:t>실제</a:t>
            </a:r>
            <a:r>
              <a:rPr sz="1600" b="1" dirty="0">
                <a:solidFill>
                  <a:srgbClr val="203B2C"/>
                </a:solidFill>
                <a:latin typeface="NanumSquare"/>
              </a:rPr>
              <a:t> </a:t>
            </a:r>
            <a:r>
              <a:rPr sz="1600" b="1" dirty="0" err="1">
                <a:solidFill>
                  <a:srgbClr val="203B2C"/>
                </a:solidFill>
                <a:latin typeface="NanumSquare"/>
              </a:rPr>
              <a:t>매매</a:t>
            </a:r>
            <a:r>
              <a:rPr sz="1600" b="1" dirty="0">
                <a:solidFill>
                  <a:srgbClr val="203B2C"/>
                </a:solidFill>
                <a:latin typeface="NanumSquare"/>
              </a:rPr>
              <a:t> </a:t>
            </a:r>
            <a:r>
              <a:rPr sz="1600" b="1" dirty="0" err="1">
                <a:solidFill>
                  <a:srgbClr val="203B2C"/>
                </a:solidFill>
                <a:latin typeface="NanumSquare"/>
              </a:rPr>
              <a:t>자동</a:t>
            </a:r>
            <a:r>
              <a:rPr sz="1600" b="1" dirty="0">
                <a:solidFill>
                  <a:srgbClr val="203B2C"/>
                </a:solidFill>
                <a:latin typeface="NanumSquare"/>
              </a:rPr>
              <a:t> </a:t>
            </a:r>
            <a:r>
              <a:rPr sz="1600" b="1" dirty="0" err="1">
                <a:solidFill>
                  <a:srgbClr val="203B2C"/>
                </a:solidFill>
                <a:latin typeface="NanumSquare"/>
              </a:rPr>
              <a:t>실행</a:t>
            </a:r>
            <a:r>
              <a:rPr sz="1600" b="1" dirty="0">
                <a:solidFill>
                  <a:srgbClr val="203B2C"/>
                </a:solidFill>
                <a:latin typeface="NanumSquare"/>
              </a:rPr>
              <a:t> · </a:t>
            </a:r>
            <a:r>
              <a:rPr sz="1600" b="1" dirty="0" err="1">
                <a:solidFill>
                  <a:srgbClr val="203B2C"/>
                </a:solidFill>
                <a:latin typeface="NanumSquare"/>
              </a:rPr>
              <a:t>수익</a:t>
            </a:r>
            <a:r>
              <a:rPr sz="1600" b="1" dirty="0">
                <a:solidFill>
                  <a:srgbClr val="203B2C"/>
                </a:solidFill>
                <a:latin typeface="NanumSquare"/>
              </a:rPr>
              <a:t> </a:t>
            </a:r>
            <a:r>
              <a:rPr sz="1600" b="1" dirty="0" err="1">
                <a:solidFill>
                  <a:srgbClr val="203B2C"/>
                </a:solidFill>
                <a:latin typeface="NanumSquare"/>
              </a:rPr>
              <a:t>보장</a:t>
            </a:r>
            <a:endParaRPr sz="1600" b="1" dirty="0">
              <a:solidFill>
                <a:srgbClr val="203B2C"/>
              </a:solidFill>
              <a:latin typeface="NanumSquare"/>
            </a:endParaRPr>
          </a:p>
        </p:txBody>
      </p:sp>
      <p:sp>
        <p:nvSpPr>
          <p:cNvPr id="22" name="TextBox 21"/>
          <p:cNvSpPr txBox="1"/>
          <p:nvPr/>
        </p:nvSpPr>
        <p:spPr>
          <a:xfrm>
            <a:off x="640080" y="5760720"/>
            <a:ext cx="10881360" cy="338328"/>
          </a:xfrm>
          <a:prstGeom prst="rect">
            <a:avLst/>
          </a:prstGeom>
          <a:noFill/>
        </p:spPr>
        <p:txBody>
          <a:bodyPr wrap="square" lIns="27432" tIns="0" rIns="27432" bIns="0" anchor="ctr">
            <a:spAutoFit/>
          </a:bodyPr>
          <a:lstStyle/>
          <a:p>
            <a:pPr algn="l">
              <a:lnSpc>
                <a:spcPct val="113000"/>
              </a:lnSpc>
              <a:spcAft>
                <a:spcPts val="0"/>
              </a:spcAft>
            </a:pPr>
            <a:r>
              <a:rPr sz="1500" b="1" dirty="0" err="1">
                <a:solidFill>
                  <a:srgbClr val="3B7562"/>
                </a:solidFill>
                <a:latin typeface="NanumSquare"/>
              </a:rPr>
              <a:t>목표</a:t>
            </a:r>
            <a:r>
              <a:rPr sz="1500" b="1" dirty="0">
                <a:solidFill>
                  <a:srgbClr val="3B7562"/>
                </a:solidFill>
                <a:latin typeface="NanumSquare"/>
              </a:rPr>
              <a:t>: </a:t>
            </a:r>
            <a:r>
              <a:rPr sz="1500" b="1" dirty="0" err="1">
                <a:solidFill>
                  <a:srgbClr val="3B7562"/>
                </a:solidFill>
                <a:latin typeface="NanumSquare"/>
              </a:rPr>
              <a:t>투자</a:t>
            </a:r>
            <a:r>
              <a:rPr sz="1500" b="1" dirty="0">
                <a:solidFill>
                  <a:srgbClr val="3B7562"/>
                </a:solidFill>
                <a:latin typeface="NanumSquare"/>
              </a:rPr>
              <a:t> </a:t>
            </a:r>
            <a:r>
              <a:rPr sz="1500" b="1" dirty="0" err="1">
                <a:solidFill>
                  <a:srgbClr val="3B7562"/>
                </a:solidFill>
                <a:latin typeface="NanumSquare"/>
              </a:rPr>
              <a:t>성과의</a:t>
            </a:r>
            <a:r>
              <a:rPr sz="1500" b="1" dirty="0">
                <a:solidFill>
                  <a:srgbClr val="3B7562"/>
                </a:solidFill>
                <a:latin typeface="NanumSquare"/>
              </a:rPr>
              <a:t> </a:t>
            </a:r>
            <a:r>
              <a:rPr sz="1500" b="1" dirty="0" err="1">
                <a:solidFill>
                  <a:srgbClr val="3B7562"/>
                </a:solidFill>
                <a:latin typeface="NanumSquare"/>
              </a:rPr>
              <a:t>개선</a:t>
            </a:r>
            <a:r>
              <a:rPr sz="1500" b="1" dirty="0">
                <a:solidFill>
                  <a:srgbClr val="3B7562"/>
                </a:solidFill>
                <a:latin typeface="NanumSquare"/>
              </a:rPr>
              <a:t> </a:t>
            </a:r>
            <a:r>
              <a:rPr sz="1500" b="1" dirty="0" err="1">
                <a:solidFill>
                  <a:srgbClr val="3B7562"/>
                </a:solidFill>
                <a:latin typeface="NanumSquare"/>
              </a:rPr>
              <a:t>가능성과</a:t>
            </a:r>
            <a:r>
              <a:rPr sz="1500" b="1" dirty="0">
                <a:solidFill>
                  <a:srgbClr val="3B7562"/>
                </a:solidFill>
                <a:latin typeface="NanumSquare"/>
              </a:rPr>
              <a:t> </a:t>
            </a:r>
            <a:r>
              <a:rPr sz="1500" b="1" dirty="0" err="1">
                <a:solidFill>
                  <a:srgbClr val="3B7562"/>
                </a:solidFill>
                <a:latin typeface="NanumSquare"/>
              </a:rPr>
              <a:t>종목·비중</a:t>
            </a:r>
            <a:r>
              <a:rPr sz="1500" b="1" dirty="0">
                <a:solidFill>
                  <a:srgbClr val="3B7562"/>
                </a:solidFill>
                <a:latin typeface="NanumSquare"/>
              </a:rPr>
              <a:t> </a:t>
            </a:r>
            <a:r>
              <a:rPr sz="1500" b="1" dirty="0" err="1">
                <a:solidFill>
                  <a:srgbClr val="3B7562"/>
                </a:solidFill>
                <a:latin typeface="NanumSquare"/>
              </a:rPr>
              <a:t>결정</a:t>
            </a:r>
            <a:r>
              <a:rPr sz="1500" b="1" dirty="0">
                <a:solidFill>
                  <a:srgbClr val="3B7562"/>
                </a:solidFill>
                <a:latin typeface="NanumSquare"/>
              </a:rPr>
              <a:t> </a:t>
            </a:r>
            <a:r>
              <a:rPr sz="1500" b="1" dirty="0" err="1">
                <a:solidFill>
                  <a:srgbClr val="3B7562"/>
                </a:solidFill>
                <a:latin typeface="NanumSquare"/>
              </a:rPr>
              <a:t>근거의</a:t>
            </a:r>
            <a:r>
              <a:rPr sz="1500" b="1" dirty="0">
                <a:solidFill>
                  <a:srgbClr val="3B7562"/>
                </a:solidFill>
                <a:latin typeface="NanumSquare"/>
              </a:rPr>
              <a:t> </a:t>
            </a:r>
            <a:r>
              <a:rPr sz="1500" b="1" dirty="0" err="1">
                <a:solidFill>
                  <a:srgbClr val="3B7562"/>
                </a:solidFill>
                <a:latin typeface="NanumSquare"/>
              </a:rPr>
              <a:t>검증</a:t>
            </a:r>
            <a:r>
              <a:rPr sz="1500" b="1" dirty="0">
                <a:solidFill>
                  <a:srgbClr val="3B7562"/>
                </a:solidFill>
                <a:latin typeface="NanumSquare"/>
              </a:rPr>
              <a:t> </a:t>
            </a:r>
            <a:r>
              <a:rPr sz="1500" b="1" dirty="0" err="1">
                <a:solidFill>
                  <a:srgbClr val="3B7562"/>
                </a:solidFill>
                <a:latin typeface="NanumSquare"/>
              </a:rPr>
              <a:t>가능성을</a:t>
            </a:r>
            <a:r>
              <a:rPr sz="1500" b="1" dirty="0">
                <a:solidFill>
                  <a:srgbClr val="3B7562"/>
                </a:solidFill>
                <a:latin typeface="NanumSquare"/>
              </a:rPr>
              <a:t> </a:t>
            </a:r>
            <a:r>
              <a:rPr sz="1500" b="1" dirty="0" err="1">
                <a:solidFill>
                  <a:srgbClr val="3B7562"/>
                </a:solidFill>
                <a:latin typeface="NanumSquare"/>
              </a:rPr>
              <a:t>함께</a:t>
            </a:r>
            <a:r>
              <a:rPr sz="1500" b="1" dirty="0">
                <a:solidFill>
                  <a:srgbClr val="3B7562"/>
                </a:solidFill>
                <a:latin typeface="NanumSquare"/>
              </a:rPr>
              <a:t> </a:t>
            </a:r>
            <a:r>
              <a:rPr sz="1500" b="1" dirty="0" err="1">
                <a:solidFill>
                  <a:srgbClr val="3B7562"/>
                </a:solidFill>
                <a:latin typeface="NanumSquare"/>
              </a:rPr>
              <a:t>확인</a:t>
            </a:r>
            <a:endParaRPr sz="1500" b="1" dirty="0">
              <a:solidFill>
                <a:srgbClr val="3B7562"/>
              </a:solidFill>
              <a:latin typeface="NanumSquare"/>
            </a:endParaRPr>
          </a:p>
        </p:txBody>
      </p:sp>
    </p:spTree>
  </p:cSld>
  <p:clrMapOvr>
    <a:masterClrMapping/>
  </p:clrMapOvr>
</p:sld>
</file>

<file path=ppt/theme/theme1.xml><?xml version="1.0" encoding="utf-8"?>
<a:theme xmlns:a="http://schemas.openxmlformats.org/drawingml/2006/main" name="Gaemi Verify">
  <a:themeElements>
    <a:clrScheme name="Gaemi Verify">
      <a:dk1>
        <a:srgbClr val="1B2420"/>
      </a:dk1>
      <a:lt1>
        <a:srgbClr val="FFFFFF"/>
      </a:lt1>
      <a:dk2>
        <a:srgbClr val="1F3A2E"/>
      </a:dk2>
      <a:lt2>
        <a:srgbClr val="EEF3EF"/>
      </a:lt2>
      <a:accent1>
        <a:srgbClr val="2E7D57"/>
      </a:accent1>
      <a:accent2>
        <a:srgbClr val="E0A030"/>
      </a:accent2>
      <a:accent3>
        <a:srgbClr val="B5473A"/>
      </a:accent3>
      <a:accent4>
        <a:srgbClr val="5B6B64"/>
      </a:accent4>
      <a:accent5>
        <a:srgbClr val="CFE3D7"/>
      </a:accent5>
      <a:accent6>
        <a:srgbClr val="F8E7C2"/>
      </a:accent6>
      <a:hlink>
        <a:srgbClr val="2E7D57"/>
      </a:hlink>
      <a:folHlink>
        <a:srgbClr val="5B6B64"/>
      </a:folHlink>
    </a:clrScheme>
    <a:fontScheme name="Gaemi Verify">
      <a:majorFont>
        <a:latin typeface="Malgun Gothic"/>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Malgun Gothic"/>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맑은 고딕"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202</TotalTime>
  <Words>1598</Words>
  <Application>Microsoft Office PowerPoint</Application>
  <PresentationFormat>와이드스크린</PresentationFormat>
  <Paragraphs>226</Paragraphs>
  <Slides>10</Slides>
  <Notes>10</Notes>
  <HiddenSlides>0</HiddenSlides>
  <MMClips>0</MMClips>
  <ScaleCrop>false</ScaleCrop>
  <HeadingPairs>
    <vt:vector size="6" baseType="variant">
      <vt:variant>
        <vt:lpstr>사용한 글꼴</vt:lpstr>
      </vt:variant>
      <vt:variant>
        <vt:i4>3</vt:i4>
      </vt:variant>
      <vt:variant>
        <vt:lpstr>테마</vt:lpstr>
      </vt:variant>
      <vt:variant>
        <vt:i4>1</vt:i4>
      </vt:variant>
      <vt:variant>
        <vt:lpstr>슬라이드 제목</vt:lpstr>
      </vt:variant>
      <vt:variant>
        <vt:i4>10</vt:i4>
      </vt:variant>
    </vt:vector>
  </HeadingPairs>
  <TitlesOfParts>
    <vt:vector size="14" baseType="lpstr">
      <vt:lpstr>NanumSquare</vt:lpstr>
      <vt:lpstr>Malgun Gothic</vt:lpstr>
      <vt:lpstr>Arial</vt:lpstr>
      <vt:lpstr>Gaemi Verify</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개미구조대 중간발표 1 — Diffusion + 리포트 기반 포트폴리오</dc:title>
  <dc:subject>발표 대본 2026-10-12에 맞춘 중간발표 슬라이드</dc:subject>
  <dc:creator>개미구조대</dc:creator>
  <cp:lastModifiedBy>종인 박</cp:lastModifiedBy>
  <cp:revision>10</cp:revision>
  <dcterms:created xsi:type="dcterms:W3CDTF">2026-10-11T07:43:28Z</dcterms:created>
  <dcterms:modified xsi:type="dcterms:W3CDTF">2026-10-14T05:05:57Z</dcterms:modified>
</cp:coreProperties>
</file>